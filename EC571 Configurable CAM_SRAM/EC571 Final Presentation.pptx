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5143500" cx="9144000"/>
  <p:notesSz cx="6858000" cy="9144000"/>
  <p:embeddedFontLst>
    <p:embeddedFont>
      <p:font typeface="Vidaloka"/>
      <p:regular r:id="rId33"/>
    </p:embeddedFont>
    <p:embeddedFont>
      <p:font typeface="Crimson Text"/>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Vidaloka-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CrimsonText-bold.fntdata"/><Relationship Id="rId12" Type="http://schemas.openxmlformats.org/officeDocument/2006/relationships/slide" Target="slides/slide8.xml"/><Relationship Id="rId34" Type="http://schemas.openxmlformats.org/officeDocument/2006/relationships/font" Target="fonts/CrimsonText-regular.fntdata"/><Relationship Id="rId15" Type="http://schemas.openxmlformats.org/officeDocument/2006/relationships/slide" Target="slides/slide11.xml"/><Relationship Id="rId37" Type="http://schemas.openxmlformats.org/officeDocument/2006/relationships/font" Target="fonts/CrimsonText-boldItalic.fntdata"/><Relationship Id="rId14" Type="http://schemas.openxmlformats.org/officeDocument/2006/relationships/slide" Target="slides/slide10.xml"/><Relationship Id="rId36" Type="http://schemas.openxmlformats.org/officeDocument/2006/relationships/font" Target="fonts/CrimsonText-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cf7a3c50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cf7a3c50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560d59583_3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560d59583_3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BRYCE – WHOLE SECTION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cc7554a049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cc7554a049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Basic sram cell</a:t>
            </a:r>
            <a:endParaRPr sz="1600"/>
          </a:p>
          <a:p>
            <a:pPr indent="0" lvl="0" marL="0" rtl="0" algn="l">
              <a:spcBef>
                <a:spcPts val="0"/>
              </a:spcBef>
              <a:spcAft>
                <a:spcPts val="0"/>
              </a:spcAft>
              <a:buNone/>
            </a:pPr>
            <a:r>
              <a:rPr lang="en" sz="1600"/>
              <a:t>It has six transistors: M1 and M3 are the pull-down NMOS, M2 and M4 are the pull-up PMOS, and these four form two cross-coupled inverters that hold the stored bit. M5 and M6 are the two access transistors controlled by the word-line.</a:t>
            </a:r>
            <a:endParaRPr sz="16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560d59583_3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d560d59583_3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Montserrat"/>
              <a:buChar char="▪"/>
            </a:pPr>
            <a:r>
              <a:rPr lang="en" sz="1400">
                <a:solidFill>
                  <a:schemeClr val="dk1"/>
                </a:solidFill>
              </a:rPr>
              <a:t>Traditional BCAM uses 10 transistors; it has a match line that tells you if data equal to search line</a:t>
            </a:r>
            <a:endParaRPr sz="1400">
              <a:solidFill>
                <a:schemeClr val="dk1"/>
              </a:solidFill>
            </a:endParaRPr>
          </a:p>
          <a:p>
            <a:pPr indent="-317500" lvl="0" marL="457200" rtl="0" algn="l">
              <a:spcBef>
                <a:spcPts val="0"/>
              </a:spcBef>
              <a:spcAft>
                <a:spcPts val="0"/>
              </a:spcAft>
              <a:buClr>
                <a:schemeClr val="dk1"/>
              </a:buClr>
              <a:buSzPts val="1400"/>
              <a:buFont typeface="Lato"/>
              <a:buChar char="▪"/>
            </a:pPr>
            <a:r>
              <a:rPr lang="en" sz="1400">
                <a:solidFill>
                  <a:schemeClr val="dk1"/>
                </a:solidFill>
              </a:rPr>
              <a:t>Traditional TCAM uses </a:t>
            </a:r>
            <a:r>
              <a:rPr lang="en" sz="1400">
                <a:solidFill>
                  <a:schemeClr val="dk1"/>
                </a:solidFill>
              </a:rPr>
              <a:t>16; it is same as BCAM but </a:t>
            </a:r>
            <a:r>
              <a:rPr lang="en" sz="1400">
                <a:solidFill>
                  <a:schemeClr val="dk1"/>
                </a:solidFill>
                <a:highlight>
                  <a:srgbClr val="FFFF00"/>
                </a:highlight>
              </a:rPr>
              <a:t>allows for Don’t Cares when searching</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On the left is the 10T BCAM cell. It's essentially a 6T SRAM storage element plus 4 extra transistors that implement an XNOR comparison between the stored bit and the search line. The match line runs horizontally — if every bit in the row matches, the match line stays high. One mismatch anywhere pulls it low.</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On the right is the 16T TCAM cell. It needs double the storage to represent the three states — 0, 1, and X — which is why it has 16 transistors. Two search lines, sl1 and sl2, handle the extra state.</a:t>
            </a:r>
            <a:endParaRPr sz="1400">
              <a:solidFill>
                <a:schemeClr val="dk1"/>
              </a:solidFill>
            </a:endParaRPr>
          </a:p>
          <a:p>
            <a:pPr indent="0" lvl="0" marL="0" rtl="0" algn="l">
              <a:spcBef>
                <a:spcPts val="0"/>
              </a:spcBef>
              <a:spcAft>
                <a:spcPts val="0"/>
              </a:spcAft>
              <a:buNone/>
            </a:pPr>
            <a:r>
              <a:t/>
            </a:r>
            <a:endParaRPr sz="1400">
              <a:solidFill>
                <a:schemeClr val="dk1"/>
              </a:solidFill>
              <a:highlight>
                <a:srgbClr val="FFFF00"/>
              </a:high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717cb936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717cb93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t>Problem: CAM sizes too big! Foundries overlook CAM innovation for SRAM optimizations</a:t>
            </a:r>
            <a:endParaRPr sz="1600"/>
          </a:p>
          <a:p>
            <a:pPr indent="0" lvl="0" marL="0" rtl="0" algn="l">
              <a:spcBef>
                <a:spcPts val="0"/>
              </a:spcBef>
              <a:spcAft>
                <a:spcPts val="0"/>
              </a:spcAft>
              <a:buClr>
                <a:schemeClr val="dk1"/>
              </a:buClr>
              <a:buSzPts val="1100"/>
              <a:buFont typeface="Arial"/>
              <a:buNone/>
            </a:pPr>
            <a:r>
              <a:rPr lang="en" sz="1600"/>
              <a:t>Larger arrays mean higher capacitance, higher power consumption, and worse energy efficiency per search operation</a:t>
            </a:r>
            <a:endParaRPr sz="1600"/>
          </a:p>
          <a:p>
            <a:pPr indent="0" lvl="0" marL="0" rtl="0" algn="l">
              <a:spcBef>
                <a:spcPts val="0"/>
              </a:spcBef>
              <a:spcAft>
                <a:spcPts val="0"/>
              </a:spcAft>
              <a:buClr>
                <a:schemeClr val="dk1"/>
              </a:buClr>
              <a:buSzPts val="1100"/>
              <a:buFont typeface="Arial"/>
              <a:buNone/>
            </a:pPr>
            <a:r>
              <a:rPr lang="en" sz="1600"/>
              <a:t>Solution: combine SRAM and CAM so they are interchangeable! CAM becomes way denser but it sacrifices some SRAM performance </a:t>
            </a:r>
            <a:endParaRPr sz="1600"/>
          </a:p>
          <a:p>
            <a:pPr indent="0" lvl="0" marL="0" rtl="0" algn="l">
              <a:spcBef>
                <a:spcPts val="0"/>
              </a:spcBef>
              <a:spcAft>
                <a:spcPts val="0"/>
              </a:spcAft>
              <a:buClr>
                <a:schemeClr val="dk1"/>
              </a:buClr>
              <a:buSzPts val="1100"/>
              <a:buFont typeface="Arial"/>
              <a:buNone/>
            </a:pPr>
            <a:r>
              <a:rPr lang="en" sz="1600"/>
              <a:t>Improve CAM density with little impact to SRAM performance</a:t>
            </a:r>
            <a:endParaRPr sz="1600"/>
          </a:p>
          <a:p>
            <a:pPr indent="0" lvl="0" marL="0" rtl="0" algn="l">
              <a:spcBef>
                <a:spcPts val="0"/>
              </a:spcBef>
              <a:spcAft>
                <a:spcPts val="0"/>
              </a:spcAft>
              <a:buClr>
                <a:schemeClr val="dk1"/>
              </a:buClr>
              <a:buSzPts val="1100"/>
              <a:buFont typeface="Arial"/>
              <a:buNone/>
            </a:pPr>
            <a:r>
              <a:t/>
            </a:r>
            <a:endParaRPr sz="1600"/>
          </a:p>
          <a:p>
            <a:pPr indent="0" lvl="0" marL="0" rtl="0" algn="l">
              <a:spcBef>
                <a:spcPts val="0"/>
              </a:spcBef>
              <a:spcAft>
                <a:spcPts val="0"/>
              </a:spcAft>
              <a:buNone/>
            </a:pPr>
            <a:r>
              <a:rPr lang="en" sz="1600"/>
              <a:t>Find more motivation for why we need to combine</a:t>
            </a:r>
            <a:endParaRPr sz="16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560d59583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560d59583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560d59583_3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560d59583_3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JIAXING</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This is the proposed configurable </a:t>
            </a:r>
            <a:r>
              <a:rPr lang="en" sz="1600"/>
              <a:t>memory</a:t>
            </a:r>
            <a:r>
              <a:rPr lang="en" sz="1600"/>
              <a:t> architecture. In the middle it uses 6T SRAM cells as storage.</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On the left is a row decoder. Here you pass in either the SRAM address or CAM data, and then you use combinational logic to control the </a:t>
            </a:r>
            <a:r>
              <a:rPr lang="en" sz="1600"/>
              <a:t>word lines.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On the top is the same, but for SRAM data or CAM write address, and the top column decoder will control the bit lines.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On the bottom are sense amplifiers and more combinational logic to show outputs for either SRAM or CAM operations.</a:t>
            </a:r>
            <a:endParaRPr sz="16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713390173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d713390173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BRYCE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In SRAM mode, words accessed row by row, standard differential read and write.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BCAM mode, words are stored column-wise instead of row-wise — you can see that in the diagram. Result comes out at the bottom through the sense amplifiers. Write takes two cycles because of the column-wise organization.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TCAM extends BCAM by adding a don't care state. Two columns are used per word to encode three states: 00 for 0, 11 for 1, and 01 for don't care.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Finally, logic-in-memory reuses the BCAM search circuitry to perform AND and NOR between stored rows directly inside the array, which saves energy and frees the ALU.</a:t>
            </a:r>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d560d59583_3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d560d59583_3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BRYCE</a:t>
            </a:r>
            <a:endParaRPr sz="1400">
              <a:solidFill>
                <a:schemeClr val="dk1"/>
              </a:solidFill>
            </a:endParaRPr>
          </a:p>
          <a:p>
            <a:pPr indent="-317500" lvl="0" marL="457200" rtl="0" algn="l">
              <a:spcBef>
                <a:spcPts val="0"/>
              </a:spcBef>
              <a:spcAft>
                <a:spcPts val="0"/>
              </a:spcAft>
              <a:buClr>
                <a:schemeClr val="dk1"/>
              </a:buClr>
              <a:buSzPts val="1400"/>
              <a:buFont typeface="Montserrat"/>
              <a:buChar char="▪"/>
            </a:pPr>
            <a:r>
              <a:rPr lang="en" sz="1400">
                <a:solidFill>
                  <a:schemeClr val="dk1"/>
                </a:solidFill>
              </a:rPr>
              <a:t>Configurable sense amplifier — is a latch type sense amp (different from current mirror sense amp seen in class)</a:t>
            </a:r>
            <a:endParaRPr sz="1400">
              <a:solidFill>
                <a:schemeClr val="dk1"/>
              </a:solidFill>
            </a:endParaRPr>
          </a:p>
          <a:p>
            <a:pPr indent="-317500" lvl="0" marL="457200" rtl="0" algn="l">
              <a:spcBef>
                <a:spcPts val="0"/>
              </a:spcBef>
              <a:spcAft>
                <a:spcPts val="0"/>
              </a:spcAft>
              <a:buClr>
                <a:schemeClr val="dk1"/>
              </a:buClr>
              <a:buSzPts val="1400"/>
              <a:buFont typeface="Montserrat"/>
              <a:buChar char="▪"/>
            </a:pPr>
            <a:r>
              <a:rPr lang="en" sz="1400">
                <a:solidFill>
                  <a:schemeClr val="dk1"/>
                </a:solidFill>
              </a:rPr>
              <a:t>switches function in when in CAM or in SRAM mode</a:t>
            </a:r>
            <a:endParaRPr sz="1400">
              <a:solidFill>
                <a:schemeClr val="dk1"/>
              </a:solidFill>
            </a:endParaRPr>
          </a:p>
          <a:p>
            <a:pPr indent="-317500" lvl="0" marL="457200" rtl="0" algn="l">
              <a:spcBef>
                <a:spcPts val="0"/>
              </a:spcBef>
              <a:spcAft>
                <a:spcPts val="0"/>
              </a:spcAft>
              <a:buClr>
                <a:schemeClr val="dk1"/>
              </a:buClr>
              <a:buSzPts val="1400"/>
              <a:buFont typeface="Lato"/>
              <a:buChar char="▪"/>
            </a:pPr>
            <a:r>
              <a:rPr lang="en" sz="1400">
                <a:solidFill>
                  <a:schemeClr val="dk1"/>
                </a:solidFill>
              </a:rPr>
              <a:t>CAM mode: diff = 0; the two cross-coupled pairs operate independently as two single-ended amplifiers</a:t>
            </a:r>
            <a:endParaRPr sz="1400">
              <a:solidFill>
                <a:schemeClr val="dk1"/>
              </a:solidFill>
            </a:endParaRPr>
          </a:p>
          <a:p>
            <a:pPr indent="-317500" lvl="1" marL="914400" rtl="0" algn="l">
              <a:spcBef>
                <a:spcPts val="0"/>
              </a:spcBef>
              <a:spcAft>
                <a:spcPts val="0"/>
              </a:spcAft>
              <a:buClr>
                <a:schemeClr val="dk1"/>
              </a:buClr>
              <a:buSzPts val="1400"/>
              <a:buFont typeface="Lato"/>
              <a:buChar char="▪"/>
            </a:pPr>
            <a:r>
              <a:rPr lang="en" sz="1400">
                <a:solidFill>
                  <a:schemeClr val="dk1"/>
                </a:solidFill>
              </a:rPr>
              <a:t>Upper cross-couple compares bit-line-bar (blb) against reference voltage (vref)</a:t>
            </a:r>
            <a:endParaRPr sz="1400">
              <a:solidFill>
                <a:schemeClr val="dk1"/>
              </a:solidFill>
            </a:endParaRPr>
          </a:p>
          <a:p>
            <a:pPr indent="-317500" lvl="1" marL="914400" rtl="0" algn="l">
              <a:spcBef>
                <a:spcPts val="0"/>
              </a:spcBef>
              <a:spcAft>
                <a:spcPts val="0"/>
              </a:spcAft>
              <a:buClr>
                <a:schemeClr val="dk1"/>
              </a:buClr>
              <a:buSzPts val="1400"/>
              <a:buFont typeface="Lato"/>
              <a:buChar char="▪"/>
            </a:pPr>
            <a:r>
              <a:rPr lang="en" sz="1400">
                <a:solidFill>
                  <a:schemeClr val="dk1"/>
                </a:solidFill>
              </a:rPr>
              <a:t>Lower cross-couple compares bit-line (bl) against reference voltage</a:t>
            </a:r>
            <a:endParaRPr sz="1400">
              <a:solidFill>
                <a:schemeClr val="dk1"/>
              </a:solidFill>
            </a:endParaRPr>
          </a:p>
          <a:p>
            <a:pPr indent="-317500" lvl="0" marL="457200" rtl="0" algn="l">
              <a:spcBef>
                <a:spcPts val="0"/>
              </a:spcBef>
              <a:spcAft>
                <a:spcPts val="0"/>
              </a:spcAft>
              <a:buClr>
                <a:schemeClr val="dk1"/>
              </a:buClr>
              <a:buSzPts val="1400"/>
              <a:buFont typeface="Lato"/>
              <a:buChar char="▪"/>
            </a:pPr>
            <a:r>
              <a:rPr lang="en" sz="1400">
                <a:solidFill>
                  <a:schemeClr val="dk1"/>
                </a:solidFill>
              </a:rPr>
              <a:t>SRAM mode: diffb = 0; switches are closed, tying the two cross-couple pairs in parallel</a:t>
            </a:r>
            <a:endParaRPr sz="1400">
              <a:solidFill>
                <a:schemeClr val="dk1"/>
              </a:solidFill>
            </a:endParaRPr>
          </a:p>
          <a:p>
            <a:pPr indent="-317500" lvl="1" marL="914400" rtl="0" algn="l">
              <a:spcBef>
                <a:spcPts val="0"/>
              </a:spcBef>
              <a:spcAft>
                <a:spcPts val="0"/>
              </a:spcAft>
              <a:buClr>
                <a:schemeClr val="dk1"/>
              </a:buClr>
              <a:buSzPts val="1400"/>
              <a:buFont typeface="Lato"/>
              <a:buChar char="▪"/>
            </a:pPr>
            <a:r>
              <a:rPr lang="en" sz="1400">
                <a:solidFill>
                  <a:schemeClr val="dk1"/>
                </a:solidFill>
              </a:rPr>
              <a:t>Differential sense amplifier</a:t>
            </a:r>
            <a:endParaRPr sz="1400">
              <a:solidFill>
                <a:schemeClr val="dk1"/>
              </a:solidFill>
            </a:endParaRPr>
          </a:p>
          <a:p>
            <a:pPr indent="-317500" lvl="1" marL="914400" rtl="0" algn="l">
              <a:spcBef>
                <a:spcPts val="0"/>
              </a:spcBef>
              <a:spcAft>
                <a:spcPts val="0"/>
              </a:spcAft>
              <a:buClr>
                <a:schemeClr val="dk1"/>
              </a:buClr>
              <a:buSzPts val="1400"/>
              <a:buFont typeface="Lato"/>
              <a:buChar char="▪"/>
            </a:pPr>
            <a:r>
              <a:rPr lang="en" sz="1400">
                <a:solidFill>
                  <a:schemeClr val="dk1"/>
                </a:solidFill>
              </a:rPr>
              <a:t>Senses voltage difference between bl and blb</a:t>
            </a:r>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713390173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d713390173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JIAXING</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I’m gonna talk about transistor sizings for a little bit. Each of the 6T SRAM cells are pretty standard: 90nm for NMOS and 180nm for PMOS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The sense amplifier transistor sizings are more complicated. I won’t </a:t>
            </a:r>
            <a:r>
              <a:rPr lang="en" sz="1600"/>
              <a:t>go through all of them here, but only the important ones. </a:t>
            </a:r>
            <a:r>
              <a:rPr lang="en" sz="1600"/>
              <a:t>For example, the bit line PMOS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The bit line PMOSes here connect the sense amplifier to the BL and BLB of memory cells, so their sizing is proportional to how many bits are on a column.</a:t>
            </a:r>
            <a:endParaRPr sz="1600"/>
          </a:p>
          <a:p>
            <a:pPr indent="0" lvl="0" marL="0" rtl="0" algn="l">
              <a:spcBef>
                <a:spcPts val="0"/>
              </a:spcBef>
              <a:spcAft>
                <a:spcPts val="0"/>
              </a:spcAft>
              <a:buNone/>
            </a:pPr>
            <a:r>
              <a:t/>
            </a:r>
            <a:endParaRPr sz="16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78bdadd9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978bdadd9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JIAXING</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Sense amplifier is precharged to HIGH, and during evaluation stage it will pull down, so we want the coupled inverters to be pull-down biased</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The buffers in the sense amplifier are here, and they help with outputting an ideal LOW signal as well as making sure the sense amp can drive the output load. So we pre-set the first inverter in the buffer to be 180 and 360, and the second inverter will be sized based on output load. It is set to 1u and 2u right now, but can be smaller.</a:t>
            </a:r>
            <a:endParaRPr sz="16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d713390173_1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d713390173_1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d713390173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d713390173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JIAXING</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So this is our memory structure, we have a 4x4 array of 6-transistor SRAM cells, with word lines going horizontally and bit lines going vertically.</a:t>
            </a:r>
            <a:endParaRPr sz="1600"/>
          </a:p>
          <a:p>
            <a:pPr indent="0" lvl="0" marL="0" rtl="0" algn="l">
              <a:spcBef>
                <a:spcPts val="0"/>
              </a:spcBef>
              <a:spcAft>
                <a:spcPts val="0"/>
              </a:spcAft>
              <a:buNone/>
            </a:pPr>
            <a:r>
              <a:t/>
            </a:r>
            <a:endParaRPr sz="1600"/>
          </a:p>
          <a:p>
            <a:pPr indent="0" lvl="0" marL="0" rtl="0" algn="l">
              <a:spcBef>
                <a:spcPts val="0"/>
              </a:spcBef>
              <a:spcAft>
                <a:spcPts val="0"/>
              </a:spcAft>
              <a:buClr>
                <a:schemeClr val="dk1"/>
              </a:buClr>
              <a:buSzPts val="1100"/>
              <a:buFont typeface="Arial"/>
              <a:buNone/>
            </a:pPr>
            <a:r>
              <a:rPr lang="en" sz="1600">
                <a:solidFill>
                  <a:schemeClr val="dk1"/>
                </a:solidFill>
              </a:rPr>
              <a:t>In this example, we will cover a binary CAM search: it will return the address (column) that has the matching content.</a:t>
            </a:r>
            <a:endParaRPr sz="1600"/>
          </a:p>
          <a:p>
            <a:pPr indent="0" lvl="0" marL="0" rtl="0" algn="l">
              <a:spcBef>
                <a:spcPts val="0"/>
              </a:spcBef>
              <a:spcAft>
                <a:spcPts val="0"/>
              </a:spcAft>
              <a:buNone/>
            </a:pPr>
            <a:r>
              <a:rPr lang="en" sz="1600"/>
              <a:t>For the BCAM Search example, our decoder will turn on either the top or bottom word line depending on the logic value. </a:t>
            </a:r>
            <a:endParaRPr sz="16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713390173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d713390173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rPr>
              <a:t>JIAXING</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 sz="1600">
                <a:solidFill>
                  <a:schemeClr val="dk1"/>
                </a:solidFill>
              </a:rPr>
              <a:t>Let’s load the memory with some data. All bitlines are precharged to Vdd</a:t>
            </a:r>
            <a:endParaRPr sz="16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713390173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d713390173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rPr>
              <a:t>JIAXING</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 sz="1600">
                <a:solidFill>
                  <a:schemeClr val="dk1"/>
                </a:solidFill>
              </a:rPr>
              <a:t>We’re gonna search for 1011, which you can see is in column 3 here. 1011 will turn on these access transistors, which I’ve shown in red</a:t>
            </a:r>
            <a:endParaRPr sz="1600">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d713390173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d713390173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rPr>
              <a:t>JIAXING</a:t>
            </a:r>
            <a:endParaRPr sz="1600">
              <a:solidFill>
                <a:schemeClr val="dk1"/>
              </a:solidFill>
            </a:endParaRPr>
          </a:p>
          <a:p>
            <a:pPr indent="0" lvl="0" marL="0" rtl="0" algn="l">
              <a:spcBef>
                <a:spcPts val="0"/>
              </a:spcBef>
              <a:spcAft>
                <a:spcPts val="0"/>
              </a:spcAft>
              <a:buNone/>
            </a:pPr>
            <a:r>
              <a:t/>
            </a:r>
            <a:endParaRPr sz="1600"/>
          </a:p>
          <a:p>
            <a:pPr indent="0" lvl="0" marL="0" rtl="0" algn="l">
              <a:spcBef>
                <a:spcPts val="0"/>
              </a:spcBef>
              <a:spcAft>
                <a:spcPts val="0"/>
              </a:spcAft>
              <a:buNone/>
            </a:pPr>
            <a:r>
              <a:rPr lang="en" sz="1600"/>
              <a:t>And what happens is: Since bitlines precharged to 1, any 0’s in data will make the bitline start discharging. </a:t>
            </a:r>
            <a:endParaRPr sz="1600"/>
          </a:p>
          <a:p>
            <a:pPr indent="0" lvl="0" marL="0" rtl="0" algn="l">
              <a:spcBef>
                <a:spcPts val="0"/>
              </a:spcBef>
              <a:spcAft>
                <a:spcPts val="0"/>
              </a:spcAft>
              <a:buNone/>
            </a:pPr>
            <a:r>
              <a:rPr lang="en" sz="1600"/>
              <a:t>You can see this clearly in column 4.</a:t>
            </a:r>
            <a:endParaRPr sz="16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713390173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d713390173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rPr>
              <a:t>JIAXING</a:t>
            </a:r>
            <a:endParaRPr sz="1600">
              <a:solidFill>
                <a:schemeClr val="dk1"/>
              </a:solidFill>
            </a:endParaRPr>
          </a:p>
          <a:p>
            <a:pPr indent="0" lvl="0" marL="0" rtl="0" algn="l">
              <a:spcBef>
                <a:spcPts val="0"/>
              </a:spcBef>
              <a:spcAft>
                <a:spcPts val="0"/>
              </a:spcAft>
              <a:buNone/>
            </a:pPr>
            <a:r>
              <a:t/>
            </a:r>
            <a:endParaRPr sz="1600"/>
          </a:p>
          <a:p>
            <a:pPr indent="0" lvl="0" marL="0" rtl="0" algn="l">
              <a:spcBef>
                <a:spcPts val="0"/>
              </a:spcBef>
              <a:spcAft>
                <a:spcPts val="0"/>
              </a:spcAft>
              <a:buNone/>
            </a:pPr>
            <a:r>
              <a:rPr lang="en" sz="1600"/>
              <a:t>The sense amplifiers will pull down any signals that began to discharge. So at our output we get 0010, which makes sense because our search term matched with the data in column 3</a:t>
            </a:r>
            <a:endParaRPr sz="16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d713390173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d713390173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rPr>
              <a:t>JIAXING</a:t>
            </a:r>
            <a:endParaRPr sz="1600">
              <a:solidFill>
                <a:schemeClr val="dk1"/>
              </a:solidFill>
            </a:endParaRPr>
          </a:p>
          <a:p>
            <a:pPr indent="0" lvl="0" marL="0" rtl="0" algn="l">
              <a:spcBef>
                <a:spcPts val="0"/>
              </a:spcBef>
              <a:spcAft>
                <a:spcPts val="0"/>
              </a:spcAft>
              <a:buNone/>
            </a:pPr>
            <a:r>
              <a:t/>
            </a:r>
            <a:endParaRPr sz="1600"/>
          </a:p>
          <a:p>
            <a:pPr indent="0" lvl="0" marL="0" rtl="0" algn="l">
              <a:spcBef>
                <a:spcPts val="0"/>
              </a:spcBef>
              <a:spcAft>
                <a:spcPts val="0"/>
              </a:spcAft>
              <a:buNone/>
            </a:pPr>
            <a:r>
              <a:rPr lang="en" sz="1600"/>
              <a:t>We simulated this in Cadence, and as you can see, during the evaluation stage, the output of our simulation matches the 0010 we just talked about.</a:t>
            </a:r>
            <a:endParaRPr sz="16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971d4c849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971d4c849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BRYCE</a:t>
            </a:r>
            <a:endParaRPr/>
          </a:p>
          <a:p>
            <a:pPr indent="0" lvl="0" marL="0" rtl="0" algn="l">
              <a:spcBef>
                <a:spcPts val="0"/>
              </a:spcBef>
              <a:spcAft>
                <a:spcPts val="0"/>
              </a:spcAft>
              <a:buNone/>
            </a:pPr>
            <a:r>
              <a:rPr lang="en"/>
              <a:t>Normally when you want to compute something, you have to pull data out of memory, send it across a bus to the ALU, do the operation, and write it back. Every one of those transfers burns energy. Logic-in-memory skips all of that — the computation happens right inside the array, using the same circuits we already built for CAM search.</a:t>
            </a:r>
            <a:br>
              <a:rPr lang="en"/>
            </a:br>
            <a:endParaRPr/>
          </a:p>
          <a:p>
            <a:pPr indent="0" lvl="0" marL="0" rtl="0" algn="l">
              <a:spcBef>
                <a:spcPts val="0"/>
              </a:spcBef>
              <a:spcAft>
                <a:spcPts val="0"/>
              </a:spcAft>
              <a:buClr>
                <a:schemeClr val="dk1"/>
              </a:buClr>
              <a:buSzPts val="1100"/>
              <a:buFont typeface="Arial"/>
              <a:buNone/>
            </a:pPr>
            <a:r>
              <a:rPr lang="en">
                <a:solidFill>
                  <a:schemeClr val="dk1"/>
                </a:solidFill>
              </a:rPr>
              <a:t>The way AND works is you just turn on the right-side access transistors for the two rows you care about at the same time. If either row has a zero in a given column, it pulls the bit-line down. So the bit-line only stays high when both rows have a one — that's exactly AND. NOR works the same way but uses the left-side transistors, which connect to the complement side of the cell. And because only two word-lines are active instead of all of them, there's much less risk of disturbing the cells, so we can run at nearly double the frequency of full BCAM mode.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configurable memory can perform bitwise AND and NOR between two or more rows stored in the array — without reading the data out first</a:t>
            </a:r>
            <a:endParaRPr/>
          </a:p>
          <a:p>
            <a:pPr indent="0" lvl="0" marL="0" rtl="0" algn="l">
              <a:spcBef>
                <a:spcPts val="0"/>
              </a:spcBef>
              <a:spcAft>
                <a:spcPts val="0"/>
              </a:spcAft>
              <a:buNone/>
            </a:pPr>
            <a:r>
              <a:rPr lang="en"/>
              <a:t>This is done by reusing the BCAM search circuitry: enabling the word-lines of the target rows while masking all others</a:t>
            </a:r>
            <a:endParaRPr/>
          </a:p>
          <a:p>
            <a:pPr indent="0" lvl="0" marL="0" rtl="0" algn="l">
              <a:spcBef>
                <a:spcPts val="0"/>
              </a:spcBef>
              <a:spcAft>
                <a:spcPts val="0"/>
              </a:spcAft>
              <a:buNone/>
            </a:pPr>
            <a:r>
              <a:rPr lang="en"/>
              <a:t>AND: apply search string "1" to WLR for both target rows — any "0" in either row pulls BL low → output = A AND B</a:t>
            </a:r>
            <a:endParaRPr/>
          </a:p>
          <a:p>
            <a:pPr indent="0" lvl="0" marL="0" rtl="0" algn="l">
              <a:spcBef>
                <a:spcPts val="0"/>
              </a:spcBef>
              <a:spcAft>
                <a:spcPts val="0"/>
              </a:spcAft>
              <a:buNone/>
            </a:pPr>
            <a:r>
              <a:rPr lang="en"/>
              <a:t>NOR: apply "0" to WLL for target rows → output = A NOR B</a:t>
            </a:r>
            <a:endParaRPr/>
          </a:p>
          <a:p>
            <a:pPr indent="0" lvl="0" marL="0" rtl="0" algn="l">
              <a:spcBef>
                <a:spcPts val="0"/>
              </a:spcBef>
              <a:spcAft>
                <a:spcPts val="0"/>
              </a:spcAft>
              <a:buNone/>
            </a:pPr>
            <a:r>
              <a:rPr lang="en"/>
              <a:t>Why this matters: no data movement between memory and ALU → lower energy, higher throughput; the ALU is freed for more complex operations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97734f7cf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97734f7cf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BRYCE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way AND works is you just turn on the right-side access transistors for the two rows you care about at the same time. If either row has a zero in a given column, it pulls the bit-line down. So the bit-line only stays high when both rows have a one — that's exactly AND. NOR works the same way but uses the left-side transistors, which connect to the complement side of the cell. And because only two word-lines are active instead of all of them, there's much less risk of disturbing the cells, so we can run at nearly double the frequency of full BCAM mode.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d713390173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d713390173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JIAXING</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If </a:t>
            </a:r>
            <a:r>
              <a:rPr lang="en" sz="1600"/>
              <a:t>Multiple word lines are active simultaneously in CAM mode, then some cells might experience a read upset, which may corrupt our data.</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One way to prevent read upsets is to change the sizing of the access transistors, but since the 6T SRAM cells are used for SRAM and CAM, it’s hard to size them to account for every feature of our memory</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Solution: drive word-lines at a lower voltage, say 0.5V, instead of full Vdd (1V)</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Weakens access transistors and prevents data corruption; use this lower voltage </a:t>
            </a:r>
            <a:r>
              <a:rPr lang="en" sz="1600"/>
              <a:t>during CAM write and CAM search</a:t>
            </a:r>
            <a:endParaRPr sz="16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d560d59583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d560d59583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BRYCE — ALL SLIDES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713390173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713390173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BRYCE</a:t>
            </a:r>
            <a:endParaRPr/>
          </a:p>
          <a:p>
            <a:pPr indent="0" lvl="0" marL="0" rtl="0" algn="l">
              <a:spcBef>
                <a:spcPts val="0"/>
              </a:spcBef>
              <a:spcAft>
                <a:spcPts val="0"/>
              </a:spcAft>
              <a:buNone/>
            </a:pPr>
            <a:r>
              <a:rPr lang="en"/>
              <a:t>The decoder </a:t>
            </a:r>
            <a:r>
              <a:rPr lang="en"/>
              <a:t>will</a:t>
            </a:r>
            <a:r>
              <a:rPr lang="en"/>
              <a:t> control the word lines depending on what operation is being done.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d713390173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d713390173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BRYCE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d713390173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d713390173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BRYCE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9770d5440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9770d5440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BRYCE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Jiaxing: The sense amp was the hardest for us to implement because we didn’t know how precharge, sample, and evaluate interacted with each other, and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took a long time to figure out what the buffer was supposed to do.</a:t>
            </a:r>
            <a:endParaRPr/>
          </a:p>
          <a:p>
            <a:pPr indent="0" lvl="0" marL="0" rtl="0" algn="l">
              <a:spcBef>
                <a:spcPts val="0"/>
              </a:spcBef>
              <a:spcAft>
                <a:spcPts val="0"/>
              </a:spcAft>
              <a:buNone/>
            </a:pPr>
            <a:r>
              <a:rPr lang="en"/>
              <a:t>(makes sure sense amp can drive output; make sure sense amp outputs a perfect LOW</a:t>
            </a:r>
            <a:r>
              <a:rPr lang="en"/>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9717cb936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9717cb936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JIAXING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4" name="Shape 14"/>
        <p:cNvGrpSpPr/>
        <p:nvPr/>
      </p:nvGrpSpPr>
      <p:grpSpPr>
        <a:xfrm>
          <a:off x="0" y="0"/>
          <a:ext cx="0" cy="0"/>
          <a:chOff x="0" y="0"/>
          <a:chExt cx="0" cy="0"/>
        </a:xfrm>
      </p:grpSpPr>
      <p:pic>
        <p:nvPicPr>
          <p:cNvPr id="15" name="Google Shape;15;p2"/>
          <p:cNvPicPr preferRelativeResize="0"/>
          <p:nvPr/>
        </p:nvPicPr>
        <p:blipFill rotWithShape="1">
          <a:blip r:embed="rId2">
            <a:alphaModFix/>
          </a:blip>
          <a:srcRect b="0" l="0" r="0" t="0"/>
          <a:stretch/>
        </p:blipFill>
        <p:spPr>
          <a:xfrm>
            <a:off x="7543800" y="4588669"/>
            <a:ext cx="726281" cy="326231"/>
          </a:xfrm>
          <a:prstGeom prst="rect">
            <a:avLst/>
          </a:prstGeom>
          <a:noFill/>
          <a:ln>
            <a:noFill/>
          </a:ln>
        </p:spPr>
      </p:pic>
      <p:sp>
        <p:nvSpPr>
          <p:cNvPr id="16" name="Google Shape;16;p2"/>
          <p:cNvSpPr/>
          <p:nvPr/>
        </p:nvSpPr>
        <p:spPr>
          <a:xfrm>
            <a:off x="0" y="-57150"/>
            <a:ext cx="9144000" cy="2171700"/>
          </a:xfrm>
          <a:prstGeom prst="rect">
            <a:avLst/>
          </a:prstGeom>
          <a:gradFill>
            <a:gsLst>
              <a:gs pos="0">
                <a:srgbClr val="33333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17" name="Google Shape;17;p2"/>
          <p:cNvSpPr/>
          <p:nvPr/>
        </p:nvSpPr>
        <p:spPr>
          <a:xfrm>
            <a:off x="609600" y="4629150"/>
            <a:ext cx="4664100" cy="206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 sz="1200" u="none" cap="none" strike="noStrike">
                <a:solidFill>
                  <a:schemeClr val="dk1"/>
                </a:solidFill>
                <a:latin typeface="Arial"/>
                <a:ea typeface="Arial"/>
                <a:cs typeface="Arial"/>
                <a:sym typeface="Arial"/>
              </a:rPr>
              <a:t>Boston University</a:t>
            </a:r>
            <a:r>
              <a:rPr b="0" i="0" lang="en" sz="1200" u="none" cap="none" strike="noStrike">
                <a:solidFill>
                  <a:schemeClr val="dk1"/>
                </a:solidFill>
                <a:latin typeface="Arial"/>
                <a:ea typeface="Arial"/>
                <a:cs typeface="Arial"/>
                <a:sym typeface="Arial"/>
              </a:rPr>
              <a:t> </a:t>
            </a:r>
            <a:r>
              <a:rPr lang="en" sz="1200">
                <a:solidFill>
                  <a:schemeClr val="dk1"/>
                </a:solidFill>
              </a:rPr>
              <a:t>College of Engineering</a:t>
            </a:r>
            <a:endParaRPr/>
          </a:p>
        </p:txBody>
      </p:sp>
      <p:sp>
        <p:nvSpPr>
          <p:cNvPr id="18" name="Google Shape;18;p2"/>
          <p:cNvSpPr txBox="1"/>
          <p:nvPr>
            <p:ph idx="1" type="subTitle"/>
          </p:nvPr>
        </p:nvSpPr>
        <p:spPr>
          <a:xfrm>
            <a:off x="685800" y="2400300"/>
            <a:ext cx="7772400" cy="1314600"/>
          </a:xfrm>
          <a:prstGeom prst="rect">
            <a:avLst/>
          </a:prstGeom>
          <a:noFill/>
          <a:ln>
            <a:noFill/>
          </a:ln>
        </p:spPr>
        <p:txBody>
          <a:bodyPr anchorCtr="0" anchor="t" bIns="45700" lIns="91425" spcFirstLastPara="1" rIns="91425" wrap="square" tIns="45700">
            <a:noAutofit/>
          </a:bodyPr>
          <a:lstStyle>
            <a:lvl1pPr lvl="0" algn="l">
              <a:spcBef>
                <a:spcPts val="360"/>
              </a:spcBef>
              <a:spcAft>
                <a:spcPts val="0"/>
              </a:spcAft>
              <a:buSzPts val="1800"/>
              <a:buFont typeface="Noto Sans Symbols"/>
              <a:buNone/>
              <a:defRPr sz="1800">
                <a:solidFill>
                  <a:srgbClr val="CCCCCC"/>
                </a:solidFill>
              </a:defRPr>
            </a:lvl1pPr>
            <a:lvl2pPr lvl="1" algn="l">
              <a:spcBef>
                <a:spcPts val="360"/>
              </a:spcBef>
              <a:spcAft>
                <a:spcPts val="0"/>
              </a:spcAft>
              <a:buSzPts val="1800"/>
              <a:buChar char="▪"/>
              <a:defRPr/>
            </a:lvl2pPr>
            <a:lvl3pPr lvl="2" algn="l">
              <a:spcBef>
                <a:spcPts val="360"/>
              </a:spcBef>
              <a:spcAft>
                <a:spcPts val="0"/>
              </a:spcAft>
              <a:buSzPts val="1800"/>
              <a:buChar char="▪"/>
              <a:defRPr/>
            </a:lvl3pPr>
            <a:lvl4pPr lvl="3" algn="l">
              <a:spcBef>
                <a:spcPts val="360"/>
              </a:spcBef>
              <a:spcAft>
                <a:spcPts val="0"/>
              </a:spcAft>
              <a:buSzPts val="1800"/>
              <a:buChar char="▪"/>
              <a:defRPr/>
            </a:lvl4pPr>
            <a:lvl5pPr lvl="4" algn="l">
              <a:spcBef>
                <a:spcPts val="360"/>
              </a:spcBef>
              <a:spcAft>
                <a:spcPts val="0"/>
              </a:spcAft>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9" name="Google Shape;19;p2"/>
          <p:cNvSpPr txBox="1"/>
          <p:nvPr>
            <p:ph type="ctrTitle"/>
          </p:nvPr>
        </p:nvSpPr>
        <p:spPr>
          <a:xfrm>
            <a:off x="685800" y="1200150"/>
            <a:ext cx="7772400" cy="8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609600" y="571500"/>
            <a:ext cx="7924800" cy="5145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 type="body"/>
          </p:nvPr>
        </p:nvSpPr>
        <p:spPr>
          <a:xfrm>
            <a:off x="609600" y="1371600"/>
            <a:ext cx="7924800" cy="29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1" type="ftr"/>
          </p:nvPr>
        </p:nvSpPr>
        <p:spPr>
          <a:xfrm>
            <a:off x="609600" y="0"/>
            <a:ext cx="5105400" cy="22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0" type="dt"/>
          </p:nvPr>
        </p:nvSpPr>
        <p:spPr>
          <a:xfrm>
            <a:off x="8001000" y="57150"/>
            <a:ext cx="1066800" cy="1716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623888" y="1282303"/>
            <a:ext cx="7886700" cy="2139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 type="body"/>
          </p:nvPr>
        </p:nvSpPr>
        <p:spPr>
          <a:xfrm>
            <a:off x="623888" y="3442097"/>
            <a:ext cx="7886700" cy="1125000"/>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SzPts val="2400"/>
              <a:buNone/>
              <a:defRPr sz="2400"/>
            </a:lvl1pPr>
            <a:lvl2pPr indent="-228600" lvl="1" marL="914400" algn="l">
              <a:spcBef>
                <a:spcPts val="400"/>
              </a:spcBef>
              <a:spcAft>
                <a:spcPts val="0"/>
              </a:spcAft>
              <a:buSzPts val="2000"/>
              <a:buNone/>
              <a:defRPr sz="2000"/>
            </a:lvl2pPr>
            <a:lvl3pPr indent="-228600" lvl="2" marL="1371600" algn="l">
              <a:spcBef>
                <a:spcPts val="360"/>
              </a:spcBef>
              <a:spcAft>
                <a:spcPts val="0"/>
              </a:spcAft>
              <a:buSzPts val="1800"/>
              <a:buNone/>
              <a:defRPr sz="1800"/>
            </a:lvl3pPr>
            <a:lvl4pPr indent="-228600" lvl="3" marL="1828800" algn="l">
              <a:spcBef>
                <a:spcPts val="320"/>
              </a:spcBef>
              <a:spcAft>
                <a:spcPts val="0"/>
              </a:spcAft>
              <a:buSzPts val="1600"/>
              <a:buNone/>
              <a:defRPr sz="1600"/>
            </a:lvl4pPr>
            <a:lvl5pPr indent="-228600" lvl="4" marL="2286000" algn="l">
              <a:spcBef>
                <a:spcPts val="320"/>
              </a:spcBef>
              <a:spcAft>
                <a:spcPts val="0"/>
              </a:spcAft>
              <a:buSzPts val="1600"/>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28" name="Google Shape;28;p4"/>
          <p:cNvSpPr txBox="1"/>
          <p:nvPr>
            <p:ph idx="11" type="ftr"/>
          </p:nvPr>
        </p:nvSpPr>
        <p:spPr>
          <a:xfrm>
            <a:off x="609600" y="0"/>
            <a:ext cx="5105400" cy="22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0" type="dt"/>
          </p:nvPr>
        </p:nvSpPr>
        <p:spPr>
          <a:xfrm>
            <a:off x="8001000" y="57150"/>
            <a:ext cx="1066800" cy="1716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5"/>
          <p:cNvSpPr txBox="1"/>
          <p:nvPr>
            <p:ph type="title"/>
          </p:nvPr>
        </p:nvSpPr>
        <p:spPr>
          <a:xfrm>
            <a:off x="609600" y="571500"/>
            <a:ext cx="7924800" cy="5145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 type="body"/>
          </p:nvPr>
        </p:nvSpPr>
        <p:spPr>
          <a:xfrm>
            <a:off x="609600" y="1371600"/>
            <a:ext cx="3886200" cy="29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2" type="body"/>
          </p:nvPr>
        </p:nvSpPr>
        <p:spPr>
          <a:xfrm>
            <a:off x="4648200" y="1371600"/>
            <a:ext cx="3886200" cy="29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11" type="ftr"/>
          </p:nvPr>
        </p:nvSpPr>
        <p:spPr>
          <a:xfrm>
            <a:off x="609600" y="0"/>
            <a:ext cx="5105400" cy="22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0" type="dt"/>
          </p:nvPr>
        </p:nvSpPr>
        <p:spPr>
          <a:xfrm>
            <a:off x="8001000" y="57150"/>
            <a:ext cx="1066800" cy="1716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630238" y="273844"/>
            <a:ext cx="7886700" cy="994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 type="body"/>
          </p:nvPr>
        </p:nvSpPr>
        <p:spPr>
          <a:xfrm>
            <a:off x="630238" y="1260872"/>
            <a:ext cx="3868800" cy="618000"/>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630238" y="1878806"/>
            <a:ext cx="3868800" cy="27633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4629150" y="1260872"/>
            <a:ext cx="3887700" cy="618000"/>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4629150" y="1878806"/>
            <a:ext cx="3887700" cy="27633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1" type="ftr"/>
          </p:nvPr>
        </p:nvSpPr>
        <p:spPr>
          <a:xfrm>
            <a:off x="609600" y="0"/>
            <a:ext cx="5105400" cy="22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0" type="dt"/>
          </p:nvPr>
        </p:nvSpPr>
        <p:spPr>
          <a:xfrm>
            <a:off x="8001000" y="57150"/>
            <a:ext cx="1066800" cy="1716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7"/>
          <p:cNvSpPr txBox="1"/>
          <p:nvPr>
            <p:ph type="title"/>
          </p:nvPr>
        </p:nvSpPr>
        <p:spPr>
          <a:xfrm>
            <a:off x="609600" y="571500"/>
            <a:ext cx="7924800" cy="5145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
          <p:cNvSpPr txBox="1"/>
          <p:nvPr>
            <p:ph idx="11" type="ftr"/>
          </p:nvPr>
        </p:nvSpPr>
        <p:spPr>
          <a:xfrm>
            <a:off x="609600" y="0"/>
            <a:ext cx="5105400" cy="22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0" type="dt"/>
          </p:nvPr>
        </p:nvSpPr>
        <p:spPr>
          <a:xfrm>
            <a:off x="8001000" y="57150"/>
            <a:ext cx="1066800" cy="1716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8"/>
          <p:cNvSpPr txBox="1"/>
          <p:nvPr>
            <p:ph idx="11" type="ftr"/>
          </p:nvPr>
        </p:nvSpPr>
        <p:spPr>
          <a:xfrm>
            <a:off x="609600" y="0"/>
            <a:ext cx="5105400" cy="22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8"/>
          <p:cNvSpPr txBox="1"/>
          <p:nvPr>
            <p:ph idx="10" type="dt"/>
          </p:nvPr>
        </p:nvSpPr>
        <p:spPr>
          <a:xfrm>
            <a:off x="8001000" y="57150"/>
            <a:ext cx="1066800" cy="1716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
          <p:cNvSpPr/>
          <p:nvPr/>
        </p:nvSpPr>
        <p:spPr>
          <a:xfrm>
            <a:off x="471450" y="4260525"/>
            <a:ext cx="8201100" cy="800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9"/>
          <p:cNvSpPr txBox="1"/>
          <p:nvPr>
            <p:ph type="title"/>
          </p:nvPr>
        </p:nvSpPr>
        <p:spPr>
          <a:xfrm>
            <a:off x="630238" y="342900"/>
            <a:ext cx="2949600" cy="12003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9"/>
          <p:cNvSpPr txBox="1"/>
          <p:nvPr>
            <p:ph idx="1" type="body"/>
          </p:nvPr>
        </p:nvSpPr>
        <p:spPr>
          <a:xfrm>
            <a:off x="3887788" y="740569"/>
            <a:ext cx="4629300" cy="3655200"/>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SzPts val="3200"/>
              <a:buChar char="▪"/>
              <a:defRPr sz="3200"/>
            </a:lvl1pPr>
            <a:lvl2pPr indent="-406400" lvl="1" marL="914400" algn="l">
              <a:spcBef>
                <a:spcPts val="560"/>
              </a:spcBef>
              <a:spcAft>
                <a:spcPts val="0"/>
              </a:spcAft>
              <a:buSzPts val="2800"/>
              <a:buChar char="▪"/>
              <a:defRPr sz="2800"/>
            </a:lvl2pPr>
            <a:lvl3pPr indent="-381000" lvl="2" marL="1371600" algn="l">
              <a:spcBef>
                <a:spcPts val="480"/>
              </a:spcBef>
              <a:spcAft>
                <a:spcPts val="0"/>
              </a:spcAft>
              <a:buSzPts val="240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5" name="Google Shape;55;p9"/>
          <p:cNvSpPr txBox="1"/>
          <p:nvPr>
            <p:ph idx="2" type="body"/>
          </p:nvPr>
        </p:nvSpPr>
        <p:spPr>
          <a:xfrm>
            <a:off x="630238" y="1543050"/>
            <a:ext cx="2949600" cy="2858700"/>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SzPts val="1600"/>
              <a:buNone/>
              <a:defRPr sz="1600"/>
            </a:lvl1pPr>
            <a:lvl2pPr indent="-228600" lvl="1" marL="914400" algn="l">
              <a:spcBef>
                <a:spcPts val="280"/>
              </a:spcBef>
              <a:spcAft>
                <a:spcPts val="0"/>
              </a:spcAft>
              <a:buSzPts val="1400"/>
              <a:buNone/>
              <a:defRPr sz="1400"/>
            </a:lvl2pPr>
            <a:lvl3pPr indent="-228600" lvl="2" marL="1371600" algn="l">
              <a:spcBef>
                <a:spcPts val="240"/>
              </a:spcBef>
              <a:spcAft>
                <a:spcPts val="0"/>
              </a:spcAft>
              <a:buSzPts val="1200"/>
              <a:buNone/>
              <a:defRPr sz="1200"/>
            </a:lvl3pPr>
            <a:lvl4pPr indent="-228600" lvl="3" marL="1828800" algn="l">
              <a:spcBef>
                <a:spcPts val="200"/>
              </a:spcBef>
              <a:spcAft>
                <a:spcPts val="0"/>
              </a:spcAft>
              <a:buSzPts val="1000"/>
              <a:buNone/>
              <a:defRPr sz="1000"/>
            </a:lvl4pPr>
            <a:lvl5pPr indent="-228600" lvl="4" marL="2286000" algn="l">
              <a:spcBef>
                <a:spcPts val="2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6" name="Google Shape;56;p9"/>
          <p:cNvSpPr txBox="1"/>
          <p:nvPr>
            <p:ph idx="11" type="ftr"/>
          </p:nvPr>
        </p:nvSpPr>
        <p:spPr>
          <a:xfrm>
            <a:off x="609600" y="0"/>
            <a:ext cx="5105400" cy="22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0" type="dt"/>
          </p:nvPr>
        </p:nvSpPr>
        <p:spPr>
          <a:xfrm>
            <a:off x="8001000" y="57150"/>
            <a:ext cx="1066800" cy="1716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630238" y="342900"/>
            <a:ext cx="2949600" cy="12003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
          <p:cNvSpPr/>
          <p:nvPr>
            <p:ph idx="2" type="pic"/>
          </p:nvPr>
        </p:nvSpPr>
        <p:spPr>
          <a:xfrm>
            <a:off x="3887788" y="740569"/>
            <a:ext cx="4629300" cy="3655200"/>
          </a:xfrm>
          <a:prstGeom prst="rect">
            <a:avLst/>
          </a:prstGeom>
          <a:noFill/>
          <a:ln>
            <a:noFill/>
          </a:ln>
        </p:spPr>
      </p:sp>
      <p:sp>
        <p:nvSpPr>
          <p:cNvPr id="61" name="Google Shape;61;p10"/>
          <p:cNvSpPr txBox="1"/>
          <p:nvPr>
            <p:ph idx="1" type="body"/>
          </p:nvPr>
        </p:nvSpPr>
        <p:spPr>
          <a:xfrm>
            <a:off x="630238" y="1543050"/>
            <a:ext cx="2949600" cy="2858700"/>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SzPts val="1600"/>
              <a:buNone/>
              <a:defRPr sz="1600"/>
            </a:lvl1pPr>
            <a:lvl2pPr indent="-228600" lvl="1" marL="914400" algn="l">
              <a:spcBef>
                <a:spcPts val="280"/>
              </a:spcBef>
              <a:spcAft>
                <a:spcPts val="0"/>
              </a:spcAft>
              <a:buSzPts val="1400"/>
              <a:buNone/>
              <a:defRPr sz="1400"/>
            </a:lvl2pPr>
            <a:lvl3pPr indent="-228600" lvl="2" marL="1371600" algn="l">
              <a:spcBef>
                <a:spcPts val="240"/>
              </a:spcBef>
              <a:spcAft>
                <a:spcPts val="0"/>
              </a:spcAft>
              <a:buSzPts val="1200"/>
              <a:buNone/>
              <a:defRPr sz="1200"/>
            </a:lvl3pPr>
            <a:lvl4pPr indent="-228600" lvl="3" marL="1828800" algn="l">
              <a:spcBef>
                <a:spcPts val="200"/>
              </a:spcBef>
              <a:spcAft>
                <a:spcPts val="0"/>
              </a:spcAft>
              <a:buSzPts val="1000"/>
              <a:buNone/>
              <a:defRPr sz="1000"/>
            </a:lvl4pPr>
            <a:lvl5pPr indent="-228600" lvl="4" marL="2286000" algn="l">
              <a:spcBef>
                <a:spcPts val="2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0"/>
          <p:cNvSpPr txBox="1"/>
          <p:nvPr>
            <p:ph idx="11" type="ftr"/>
          </p:nvPr>
        </p:nvSpPr>
        <p:spPr>
          <a:xfrm>
            <a:off x="609600" y="0"/>
            <a:ext cx="5105400" cy="22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
          <p:cNvSpPr txBox="1"/>
          <p:nvPr>
            <p:ph idx="10" type="dt"/>
          </p:nvPr>
        </p:nvSpPr>
        <p:spPr>
          <a:xfrm>
            <a:off x="8001000" y="57150"/>
            <a:ext cx="1066800" cy="1716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p:cSld name="Vertical Title and Text">
    <p:spTree>
      <p:nvGrpSpPr>
        <p:cNvPr id="64" name="Shape 64"/>
        <p:cNvGrpSpPr/>
        <p:nvPr/>
      </p:nvGrpSpPr>
      <p:grpSpPr>
        <a:xfrm>
          <a:off x="0" y="0"/>
          <a:ext cx="0" cy="0"/>
          <a:chOff x="0" y="0"/>
          <a:chExt cx="0" cy="0"/>
        </a:xfrm>
      </p:grpSpPr>
      <p:sp>
        <p:nvSpPr>
          <p:cNvPr id="65" name="Google Shape;65;p11"/>
          <p:cNvSpPr txBox="1"/>
          <p:nvPr/>
        </p:nvSpPr>
        <p:spPr>
          <a:xfrm>
            <a:off x="6477000" y="547688"/>
            <a:ext cx="2303400" cy="373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 sz="2400" u="none" cap="none" strike="noStrike">
                <a:solidFill>
                  <a:schemeClr val="dk1"/>
                </a:solidFill>
                <a:latin typeface="Arial"/>
                <a:ea typeface="Arial"/>
                <a:cs typeface="Arial"/>
                <a:sym typeface="Arial"/>
              </a:rPr>
              <a:t>Click to edit Master title style</a:t>
            </a:r>
            <a:endParaRPr/>
          </a:p>
        </p:txBody>
      </p:sp>
      <p:sp>
        <p:nvSpPr>
          <p:cNvPr id="66" name="Google Shape;66;p11"/>
          <p:cNvSpPr txBox="1"/>
          <p:nvPr>
            <p:ph idx="1" type="body"/>
          </p:nvPr>
        </p:nvSpPr>
        <p:spPr>
          <a:xfrm>
            <a:off x="609599" y="547134"/>
            <a:ext cx="5638800" cy="3739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67" name="Shape 67"/>
        <p:cNvGrpSpPr/>
        <p:nvPr/>
      </p:nvGrpSpPr>
      <p:grpSpPr>
        <a:xfrm>
          <a:off x="0" y="0"/>
          <a:ext cx="0" cy="0"/>
          <a:chOff x="0" y="0"/>
          <a:chExt cx="0" cy="0"/>
        </a:xfrm>
      </p:grpSpPr>
      <p:sp>
        <p:nvSpPr>
          <p:cNvPr id="68" name="Google Shape;68;p12"/>
          <p:cNvSpPr txBox="1"/>
          <p:nvPr>
            <p:ph type="title"/>
          </p:nvPr>
        </p:nvSpPr>
        <p:spPr>
          <a:xfrm>
            <a:off x="713225" y="445025"/>
            <a:ext cx="4389300" cy="572700"/>
          </a:xfrm>
          <a:prstGeom prst="rect">
            <a:avLst/>
          </a:prstGeom>
        </p:spPr>
        <p:txBody>
          <a:bodyPr anchorCtr="0" anchor="t" bIns="45700" lIns="91425" spcFirstLastPara="1" rIns="91425" wrap="square" tIns="4570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2"/>
          <p:cNvSpPr txBox="1"/>
          <p:nvPr>
            <p:ph idx="1" type="subTitle"/>
          </p:nvPr>
        </p:nvSpPr>
        <p:spPr>
          <a:xfrm>
            <a:off x="5001000" y="1942925"/>
            <a:ext cx="2486100" cy="357000"/>
          </a:xfrm>
          <a:prstGeom prst="rect">
            <a:avLst/>
          </a:prstGeom>
        </p:spPr>
        <p:txBody>
          <a:bodyPr anchorCtr="0" anchor="ctr" bIns="45700" lIns="91425" spcFirstLastPara="1" rIns="91425" wrap="square" tIns="45700">
            <a:noAutofit/>
          </a:bodyPr>
          <a:lstStyle>
            <a:lvl1pPr lvl="0" algn="ctr">
              <a:lnSpc>
                <a:spcPct val="100000"/>
              </a:lnSpc>
              <a:spcBef>
                <a:spcPts val="480"/>
              </a:spcBef>
              <a:spcAft>
                <a:spcPts val="0"/>
              </a:spcAft>
              <a:buSzPts val="2100"/>
              <a:buNone/>
              <a:defRPr sz="2400">
                <a:latin typeface="Vidaloka"/>
                <a:ea typeface="Vidaloka"/>
                <a:cs typeface="Vidaloka"/>
                <a:sym typeface="Vidaloka"/>
              </a:defRPr>
            </a:lvl1pPr>
            <a:lvl2pPr lvl="1" algn="ctr">
              <a:spcBef>
                <a:spcPts val="360"/>
              </a:spcBef>
              <a:spcAft>
                <a:spcPts val="0"/>
              </a:spcAft>
              <a:buSzPts val="2100"/>
              <a:buNone/>
              <a:defRPr b="1" sz="2100"/>
            </a:lvl2pPr>
            <a:lvl3pPr lvl="2" algn="ctr">
              <a:spcBef>
                <a:spcPts val="360"/>
              </a:spcBef>
              <a:spcAft>
                <a:spcPts val="0"/>
              </a:spcAft>
              <a:buSzPts val="2100"/>
              <a:buNone/>
              <a:defRPr b="1" sz="2100"/>
            </a:lvl3pPr>
            <a:lvl4pPr lvl="3" algn="ctr">
              <a:spcBef>
                <a:spcPts val="360"/>
              </a:spcBef>
              <a:spcAft>
                <a:spcPts val="0"/>
              </a:spcAft>
              <a:buSzPts val="2100"/>
              <a:buNone/>
              <a:defRPr b="1" sz="2100"/>
            </a:lvl4pPr>
            <a:lvl5pPr lvl="4" algn="ctr">
              <a:spcBef>
                <a:spcPts val="360"/>
              </a:spcBef>
              <a:spcAft>
                <a:spcPts val="0"/>
              </a:spcAft>
              <a:buSzPts val="2100"/>
              <a:buNone/>
              <a:defRPr b="1" sz="2100"/>
            </a:lvl5pPr>
            <a:lvl6pPr lvl="5" algn="ctr">
              <a:spcBef>
                <a:spcPts val="500"/>
              </a:spcBef>
              <a:spcAft>
                <a:spcPts val="0"/>
              </a:spcAft>
              <a:buSzPts val="2100"/>
              <a:buNone/>
              <a:defRPr b="1" sz="2100"/>
            </a:lvl6pPr>
            <a:lvl7pPr lvl="6" algn="ctr">
              <a:spcBef>
                <a:spcPts val="500"/>
              </a:spcBef>
              <a:spcAft>
                <a:spcPts val="0"/>
              </a:spcAft>
              <a:buSzPts val="2100"/>
              <a:buNone/>
              <a:defRPr b="1" sz="2100"/>
            </a:lvl7pPr>
            <a:lvl8pPr lvl="7" algn="ctr">
              <a:spcBef>
                <a:spcPts val="500"/>
              </a:spcBef>
              <a:spcAft>
                <a:spcPts val="0"/>
              </a:spcAft>
              <a:buSzPts val="2100"/>
              <a:buNone/>
              <a:defRPr b="1" sz="2100"/>
            </a:lvl8pPr>
            <a:lvl9pPr lvl="8" algn="ctr">
              <a:spcBef>
                <a:spcPts val="500"/>
              </a:spcBef>
              <a:spcAft>
                <a:spcPts val="0"/>
              </a:spcAft>
              <a:buSzPts val="2100"/>
              <a:buNone/>
              <a:defRPr b="1" sz="2100"/>
            </a:lvl9pPr>
          </a:lstStyle>
          <a:p/>
        </p:txBody>
      </p:sp>
      <p:sp>
        <p:nvSpPr>
          <p:cNvPr id="70" name="Google Shape;70;p12"/>
          <p:cNvSpPr txBox="1"/>
          <p:nvPr>
            <p:ph idx="2" type="subTitle"/>
          </p:nvPr>
        </p:nvSpPr>
        <p:spPr>
          <a:xfrm>
            <a:off x="5001000" y="2255100"/>
            <a:ext cx="2486100" cy="618600"/>
          </a:xfrm>
          <a:prstGeom prst="rect">
            <a:avLst/>
          </a:prstGeom>
        </p:spPr>
        <p:txBody>
          <a:bodyPr anchorCtr="0" anchor="t" bIns="45700" lIns="91425" spcFirstLastPara="1" rIns="91425" wrap="square" tIns="45700">
            <a:noAutofit/>
          </a:bodyPr>
          <a:lstStyle>
            <a:lvl1pPr lvl="0" algn="ctr">
              <a:lnSpc>
                <a:spcPct val="100000"/>
              </a:lnSpc>
              <a:spcBef>
                <a:spcPts val="480"/>
              </a:spcBef>
              <a:spcAft>
                <a:spcPts val="0"/>
              </a:spcAft>
              <a:buSzPts val="1400"/>
              <a:buNone/>
              <a:defRPr sz="1400">
                <a:solidFill>
                  <a:schemeClr val="dk1"/>
                </a:solidFill>
              </a:defRPr>
            </a:lvl1pPr>
            <a:lvl2pPr lvl="1" algn="ctr">
              <a:spcBef>
                <a:spcPts val="360"/>
              </a:spcBef>
              <a:spcAft>
                <a:spcPts val="0"/>
              </a:spcAft>
              <a:buSzPts val="1800"/>
              <a:buNone/>
              <a:defRPr/>
            </a:lvl2pPr>
            <a:lvl3pPr lvl="2" algn="ctr">
              <a:spcBef>
                <a:spcPts val="360"/>
              </a:spcBef>
              <a:spcAft>
                <a:spcPts val="0"/>
              </a:spcAft>
              <a:buSzPts val="1800"/>
              <a:buNone/>
              <a:defRPr/>
            </a:lvl3pPr>
            <a:lvl4pPr lvl="3" algn="ctr">
              <a:spcBef>
                <a:spcPts val="360"/>
              </a:spcBef>
              <a:spcAft>
                <a:spcPts val="0"/>
              </a:spcAft>
              <a:buSzPts val="1800"/>
              <a:buNone/>
              <a:defRPr/>
            </a:lvl4pPr>
            <a:lvl5pPr lvl="4" algn="ctr">
              <a:spcBef>
                <a:spcPts val="360"/>
              </a:spcBef>
              <a:spcAft>
                <a:spcPts val="0"/>
              </a:spcAft>
              <a:buSzPts val="1800"/>
              <a:buNone/>
              <a:defRPr/>
            </a:lvl5pPr>
            <a:lvl6pPr lvl="5" algn="ctr">
              <a:spcBef>
                <a:spcPts val="500"/>
              </a:spcBef>
              <a:spcAft>
                <a:spcPts val="0"/>
              </a:spcAft>
              <a:buSzPts val="1800"/>
              <a:buNone/>
              <a:defRPr/>
            </a:lvl6pPr>
            <a:lvl7pPr lvl="6" algn="ctr">
              <a:spcBef>
                <a:spcPts val="500"/>
              </a:spcBef>
              <a:spcAft>
                <a:spcPts val="0"/>
              </a:spcAft>
              <a:buSzPts val="1800"/>
              <a:buNone/>
              <a:defRPr/>
            </a:lvl7pPr>
            <a:lvl8pPr lvl="7" algn="ctr">
              <a:spcBef>
                <a:spcPts val="500"/>
              </a:spcBef>
              <a:spcAft>
                <a:spcPts val="0"/>
              </a:spcAft>
              <a:buSzPts val="1800"/>
              <a:buNone/>
              <a:defRPr/>
            </a:lvl8pPr>
            <a:lvl9pPr lvl="8" algn="ctr">
              <a:spcBef>
                <a:spcPts val="500"/>
              </a:spcBef>
              <a:spcAft>
                <a:spcPts val="0"/>
              </a:spcAft>
              <a:buSzPts val="1800"/>
              <a:buNone/>
              <a:defRPr/>
            </a:lvl9pPr>
          </a:lstStyle>
          <a:p/>
        </p:txBody>
      </p:sp>
      <p:sp>
        <p:nvSpPr>
          <p:cNvPr id="71" name="Google Shape;71;p12"/>
          <p:cNvSpPr txBox="1"/>
          <p:nvPr>
            <p:ph idx="3" type="subTitle"/>
          </p:nvPr>
        </p:nvSpPr>
        <p:spPr>
          <a:xfrm>
            <a:off x="1655200" y="1942925"/>
            <a:ext cx="2486100" cy="357000"/>
          </a:xfrm>
          <a:prstGeom prst="rect">
            <a:avLst/>
          </a:prstGeom>
        </p:spPr>
        <p:txBody>
          <a:bodyPr anchorCtr="0" anchor="ctr" bIns="45700" lIns="91425" spcFirstLastPara="1" rIns="91425" wrap="square" tIns="45700">
            <a:noAutofit/>
          </a:bodyPr>
          <a:lstStyle>
            <a:lvl1pPr lvl="0" algn="ctr">
              <a:lnSpc>
                <a:spcPct val="100000"/>
              </a:lnSpc>
              <a:spcBef>
                <a:spcPts val="480"/>
              </a:spcBef>
              <a:spcAft>
                <a:spcPts val="0"/>
              </a:spcAft>
              <a:buSzPts val="2100"/>
              <a:buNone/>
              <a:defRPr sz="2400">
                <a:latin typeface="Vidaloka"/>
                <a:ea typeface="Vidaloka"/>
                <a:cs typeface="Vidaloka"/>
                <a:sym typeface="Vidaloka"/>
              </a:defRPr>
            </a:lvl1pPr>
            <a:lvl2pPr lvl="1" algn="ctr">
              <a:spcBef>
                <a:spcPts val="360"/>
              </a:spcBef>
              <a:spcAft>
                <a:spcPts val="0"/>
              </a:spcAft>
              <a:buSzPts val="2100"/>
              <a:buNone/>
              <a:defRPr b="1" sz="2100"/>
            </a:lvl2pPr>
            <a:lvl3pPr lvl="2" algn="ctr">
              <a:spcBef>
                <a:spcPts val="360"/>
              </a:spcBef>
              <a:spcAft>
                <a:spcPts val="0"/>
              </a:spcAft>
              <a:buSzPts val="2100"/>
              <a:buNone/>
              <a:defRPr b="1" sz="2100"/>
            </a:lvl3pPr>
            <a:lvl4pPr lvl="3" algn="ctr">
              <a:spcBef>
                <a:spcPts val="360"/>
              </a:spcBef>
              <a:spcAft>
                <a:spcPts val="0"/>
              </a:spcAft>
              <a:buSzPts val="2100"/>
              <a:buNone/>
              <a:defRPr b="1" sz="2100"/>
            </a:lvl4pPr>
            <a:lvl5pPr lvl="4" algn="ctr">
              <a:spcBef>
                <a:spcPts val="360"/>
              </a:spcBef>
              <a:spcAft>
                <a:spcPts val="0"/>
              </a:spcAft>
              <a:buSzPts val="2100"/>
              <a:buNone/>
              <a:defRPr b="1" sz="2100"/>
            </a:lvl5pPr>
            <a:lvl6pPr lvl="5" algn="ctr">
              <a:spcBef>
                <a:spcPts val="500"/>
              </a:spcBef>
              <a:spcAft>
                <a:spcPts val="0"/>
              </a:spcAft>
              <a:buSzPts val="2100"/>
              <a:buNone/>
              <a:defRPr b="1" sz="2100"/>
            </a:lvl6pPr>
            <a:lvl7pPr lvl="6" algn="ctr">
              <a:spcBef>
                <a:spcPts val="500"/>
              </a:spcBef>
              <a:spcAft>
                <a:spcPts val="0"/>
              </a:spcAft>
              <a:buSzPts val="2100"/>
              <a:buNone/>
              <a:defRPr b="1" sz="2100"/>
            </a:lvl7pPr>
            <a:lvl8pPr lvl="7" algn="ctr">
              <a:spcBef>
                <a:spcPts val="500"/>
              </a:spcBef>
              <a:spcAft>
                <a:spcPts val="0"/>
              </a:spcAft>
              <a:buSzPts val="2100"/>
              <a:buNone/>
              <a:defRPr b="1" sz="2100"/>
            </a:lvl8pPr>
            <a:lvl9pPr lvl="8" algn="ctr">
              <a:spcBef>
                <a:spcPts val="500"/>
              </a:spcBef>
              <a:spcAft>
                <a:spcPts val="0"/>
              </a:spcAft>
              <a:buSzPts val="2100"/>
              <a:buNone/>
              <a:defRPr b="1" sz="2100"/>
            </a:lvl9pPr>
          </a:lstStyle>
          <a:p/>
        </p:txBody>
      </p:sp>
      <p:sp>
        <p:nvSpPr>
          <p:cNvPr id="72" name="Google Shape;72;p12"/>
          <p:cNvSpPr txBox="1"/>
          <p:nvPr>
            <p:ph idx="4" type="subTitle"/>
          </p:nvPr>
        </p:nvSpPr>
        <p:spPr>
          <a:xfrm>
            <a:off x="1655200" y="2255100"/>
            <a:ext cx="2486100" cy="618600"/>
          </a:xfrm>
          <a:prstGeom prst="rect">
            <a:avLst/>
          </a:prstGeom>
        </p:spPr>
        <p:txBody>
          <a:bodyPr anchorCtr="0" anchor="t" bIns="45700" lIns="91425" spcFirstLastPara="1" rIns="91425" wrap="square" tIns="45700">
            <a:noAutofit/>
          </a:bodyPr>
          <a:lstStyle>
            <a:lvl1pPr lvl="0" algn="ctr">
              <a:lnSpc>
                <a:spcPct val="100000"/>
              </a:lnSpc>
              <a:spcBef>
                <a:spcPts val="480"/>
              </a:spcBef>
              <a:spcAft>
                <a:spcPts val="0"/>
              </a:spcAft>
              <a:buSzPts val="1400"/>
              <a:buNone/>
              <a:defRPr sz="1400"/>
            </a:lvl1pPr>
            <a:lvl2pPr lvl="1" algn="ctr">
              <a:spcBef>
                <a:spcPts val="360"/>
              </a:spcBef>
              <a:spcAft>
                <a:spcPts val="0"/>
              </a:spcAft>
              <a:buSzPts val="1800"/>
              <a:buNone/>
              <a:defRPr/>
            </a:lvl2pPr>
            <a:lvl3pPr lvl="2" algn="ctr">
              <a:spcBef>
                <a:spcPts val="360"/>
              </a:spcBef>
              <a:spcAft>
                <a:spcPts val="0"/>
              </a:spcAft>
              <a:buSzPts val="1800"/>
              <a:buNone/>
              <a:defRPr/>
            </a:lvl3pPr>
            <a:lvl4pPr lvl="3" algn="ctr">
              <a:spcBef>
                <a:spcPts val="360"/>
              </a:spcBef>
              <a:spcAft>
                <a:spcPts val="0"/>
              </a:spcAft>
              <a:buSzPts val="1800"/>
              <a:buNone/>
              <a:defRPr/>
            </a:lvl4pPr>
            <a:lvl5pPr lvl="4" algn="ctr">
              <a:spcBef>
                <a:spcPts val="360"/>
              </a:spcBef>
              <a:spcAft>
                <a:spcPts val="0"/>
              </a:spcAft>
              <a:buSzPts val="1800"/>
              <a:buNone/>
              <a:defRPr/>
            </a:lvl5pPr>
            <a:lvl6pPr lvl="5" algn="ctr">
              <a:spcBef>
                <a:spcPts val="500"/>
              </a:spcBef>
              <a:spcAft>
                <a:spcPts val="0"/>
              </a:spcAft>
              <a:buSzPts val="1800"/>
              <a:buNone/>
              <a:defRPr/>
            </a:lvl6pPr>
            <a:lvl7pPr lvl="6" algn="ctr">
              <a:spcBef>
                <a:spcPts val="500"/>
              </a:spcBef>
              <a:spcAft>
                <a:spcPts val="0"/>
              </a:spcAft>
              <a:buSzPts val="1800"/>
              <a:buNone/>
              <a:defRPr/>
            </a:lvl7pPr>
            <a:lvl8pPr lvl="7" algn="ctr">
              <a:spcBef>
                <a:spcPts val="500"/>
              </a:spcBef>
              <a:spcAft>
                <a:spcPts val="0"/>
              </a:spcAft>
              <a:buSzPts val="1800"/>
              <a:buNone/>
              <a:defRPr/>
            </a:lvl8pPr>
            <a:lvl9pPr lvl="8" algn="ctr">
              <a:spcBef>
                <a:spcPts val="500"/>
              </a:spcBef>
              <a:spcAft>
                <a:spcPts val="0"/>
              </a:spcAft>
              <a:buSzPts val="1800"/>
              <a:buNone/>
              <a:defRPr/>
            </a:lvl9pPr>
          </a:lstStyle>
          <a:p/>
        </p:txBody>
      </p:sp>
      <p:sp>
        <p:nvSpPr>
          <p:cNvPr id="73" name="Google Shape;73;p12"/>
          <p:cNvSpPr txBox="1"/>
          <p:nvPr>
            <p:ph idx="5" type="subTitle"/>
          </p:nvPr>
        </p:nvSpPr>
        <p:spPr>
          <a:xfrm>
            <a:off x="5001000" y="3723950"/>
            <a:ext cx="2486100" cy="357000"/>
          </a:xfrm>
          <a:prstGeom prst="rect">
            <a:avLst/>
          </a:prstGeom>
        </p:spPr>
        <p:txBody>
          <a:bodyPr anchorCtr="0" anchor="ctr" bIns="45700" lIns="91425" spcFirstLastPara="1" rIns="91425" wrap="square" tIns="45700">
            <a:noAutofit/>
          </a:bodyPr>
          <a:lstStyle>
            <a:lvl1pPr lvl="0" algn="ctr">
              <a:lnSpc>
                <a:spcPct val="100000"/>
              </a:lnSpc>
              <a:spcBef>
                <a:spcPts val="480"/>
              </a:spcBef>
              <a:spcAft>
                <a:spcPts val="0"/>
              </a:spcAft>
              <a:buSzPts val="2100"/>
              <a:buNone/>
              <a:defRPr sz="2400">
                <a:latin typeface="Vidaloka"/>
                <a:ea typeface="Vidaloka"/>
                <a:cs typeface="Vidaloka"/>
                <a:sym typeface="Vidaloka"/>
              </a:defRPr>
            </a:lvl1pPr>
            <a:lvl2pPr lvl="1" algn="ctr">
              <a:spcBef>
                <a:spcPts val="360"/>
              </a:spcBef>
              <a:spcAft>
                <a:spcPts val="0"/>
              </a:spcAft>
              <a:buSzPts val="2100"/>
              <a:buNone/>
              <a:defRPr b="1" sz="2100"/>
            </a:lvl2pPr>
            <a:lvl3pPr lvl="2" algn="ctr">
              <a:spcBef>
                <a:spcPts val="360"/>
              </a:spcBef>
              <a:spcAft>
                <a:spcPts val="0"/>
              </a:spcAft>
              <a:buSzPts val="2100"/>
              <a:buNone/>
              <a:defRPr b="1" sz="2100"/>
            </a:lvl3pPr>
            <a:lvl4pPr lvl="3" algn="ctr">
              <a:spcBef>
                <a:spcPts val="360"/>
              </a:spcBef>
              <a:spcAft>
                <a:spcPts val="0"/>
              </a:spcAft>
              <a:buSzPts val="2100"/>
              <a:buNone/>
              <a:defRPr b="1" sz="2100"/>
            </a:lvl4pPr>
            <a:lvl5pPr lvl="4" algn="ctr">
              <a:spcBef>
                <a:spcPts val="360"/>
              </a:spcBef>
              <a:spcAft>
                <a:spcPts val="0"/>
              </a:spcAft>
              <a:buSzPts val="2100"/>
              <a:buNone/>
              <a:defRPr b="1" sz="2100"/>
            </a:lvl5pPr>
            <a:lvl6pPr lvl="5" algn="ctr">
              <a:spcBef>
                <a:spcPts val="500"/>
              </a:spcBef>
              <a:spcAft>
                <a:spcPts val="0"/>
              </a:spcAft>
              <a:buSzPts val="2100"/>
              <a:buNone/>
              <a:defRPr b="1" sz="2100"/>
            </a:lvl6pPr>
            <a:lvl7pPr lvl="6" algn="ctr">
              <a:spcBef>
                <a:spcPts val="500"/>
              </a:spcBef>
              <a:spcAft>
                <a:spcPts val="0"/>
              </a:spcAft>
              <a:buSzPts val="2100"/>
              <a:buNone/>
              <a:defRPr b="1" sz="2100"/>
            </a:lvl7pPr>
            <a:lvl8pPr lvl="7" algn="ctr">
              <a:spcBef>
                <a:spcPts val="500"/>
              </a:spcBef>
              <a:spcAft>
                <a:spcPts val="0"/>
              </a:spcAft>
              <a:buSzPts val="2100"/>
              <a:buNone/>
              <a:defRPr b="1" sz="2100"/>
            </a:lvl8pPr>
            <a:lvl9pPr lvl="8" algn="ctr">
              <a:spcBef>
                <a:spcPts val="500"/>
              </a:spcBef>
              <a:spcAft>
                <a:spcPts val="0"/>
              </a:spcAft>
              <a:buSzPts val="2100"/>
              <a:buNone/>
              <a:defRPr b="1" sz="2100"/>
            </a:lvl9pPr>
          </a:lstStyle>
          <a:p/>
        </p:txBody>
      </p:sp>
      <p:sp>
        <p:nvSpPr>
          <p:cNvPr id="74" name="Google Shape;74;p12"/>
          <p:cNvSpPr txBox="1"/>
          <p:nvPr>
            <p:ph idx="6" type="subTitle"/>
          </p:nvPr>
        </p:nvSpPr>
        <p:spPr>
          <a:xfrm>
            <a:off x="5001000" y="4036125"/>
            <a:ext cx="2486100" cy="618600"/>
          </a:xfrm>
          <a:prstGeom prst="rect">
            <a:avLst/>
          </a:prstGeom>
        </p:spPr>
        <p:txBody>
          <a:bodyPr anchorCtr="0" anchor="t" bIns="45700" lIns="91425" spcFirstLastPara="1" rIns="91425" wrap="square" tIns="45700">
            <a:noAutofit/>
          </a:bodyPr>
          <a:lstStyle>
            <a:lvl1pPr lvl="0" algn="ctr">
              <a:lnSpc>
                <a:spcPct val="100000"/>
              </a:lnSpc>
              <a:spcBef>
                <a:spcPts val="480"/>
              </a:spcBef>
              <a:spcAft>
                <a:spcPts val="0"/>
              </a:spcAft>
              <a:buSzPts val="1400"/>
              <a:buNone/>
              <a:defRPr sz="1400">
                <a:solidFill>
                  <a:schemeClr val="dk1"/>
                </a:solidFill>
              </a:defRPr>
            </a:lvl1pPr>
            <a:lvl2pPr lvl="1" algn="ctr">
              <a:spcBef>
                <a:spcPts val="360"/>
              </a:spcBef>
              <a:spcAft>
                <a:spcPts val="0"/>
              </a:spcAft>
              <a:buSzPts val="1800"/>
              <a:buNone/>
              <a:defRPr/>
            </a:lvl2pPr>
            <a:lvl3pPr lvl="2" algn="ctr">
              <a:spcBef>
                <a:spcPts val="360"/>
              </a:spcBef>
              <a:spcAft>
                <a:spcPts val="0"/>
              </a:spcAft>
              <a:buSzPts val="1800"/>
              <a:buNone/>
              <a:defRPr/>
            </a:lvl3pPr>
            <a:lvl4pPr lvl="3" algn="ctr">
              <a:spcBef>
                <a:spcPts val="360"/>
              </a:spcBef>
              <a:spcAft>
                <a:spcPts val="0"/>
              </a:spcAft>
              <a:buSzPts val="1800"/>
              <a:buNone/>
              <a:defRPr/>
            </a:lvl4pPr>
            <a:lvl5pPr lvl="4" algn="ctr">
              <a:spcBef>
                <a:spcPts val="360"/>
              </a:spcBef>
              <a:spcAft>
                <a:spcPts val="0"/>
              </a:spcAft>
              <a:buSzPts val="1800"/>
              <a:buNone/>
              <a:defRPr/>
            </a:lvl5pPr>
            <a:lvl6pPr lvl="5" algn="ctr">
              <a:spcBef>
                <a:spcPts val="500"/>
              </a:spcBef>
              <a:spcAft>
                <a:spcPts val="0"/>
              </a:spcAft>
              <a:buSzPts val="1800"/>
              <a:buNone/>
              <a:defRPr/>
            </a:lvl6pPr>
            <a:lvl7pPr lvl="6" algn="ctr">
              <a:spcBef>
                <a:spcPts val="500"/>
              </a:spcBef>
              <a:spcAft>
                <a:spcPts val="0"/>
              </a:spcAft>
              <a:buSzPts val="1800"/>
              <a:buNone/>
              <a:defRPr/>
            </a:lvl7pPr>
            <a:lvl8pPr lvl="7" algn="ctr">
              <a:spcBef>
                <a:spcPts val="500"/>
              </a:spcBef>
              <a:spcAft>
                <a:spcPts val="0"/>
              </a:spcAft>
              <a:buSzPts val="1800"/>
              <a:buNone/>
              <a:defRPr/>
            </a:lvl8pPr>
            <a:lvl9pPr lvl="8" algn="ctr">
              <a:spcBef>
                <a:spcPts val="500"/>
              </a:spcBef>
              <a:spcAft>
                <a:spcPts val="0"/>
              </a:spcAft>
              <a:buSzPts val="1800"/>
              <a:buNone/>
              <a:defRPr/>
            </a:lvl9pPr>
          </a:lstStyle>
          <a:p/>
        </p:txBody>
      </p:sp>
      <p:sp>
        <p:nvSpPr>
          <p:cNvPr id="75" name="Google Shape;75;p12"/>
          <p:cNvSpPr txBox="1"/>
          <p:nvPr>
            <p:ph idx="7" type="subTitle"/>
          </p:nvPr>
        </p:nvSpPr>
        <p:spPr>
          <a:xfrm>
            <a:off x="1655200" y="3723950"/>
            <a:ext cx="2486100" cy="357000"/>
          </a:xfrm>
          <a:prstGeom prst="rect">
            <a:avLst/>
          </a:prstGeom>
        </p:spPr>
        <p:txBody>
          <a:bodyPr anchorCtr="0" anchor="ctr" bIns="45700" lIns="91425" spcFirstLastPara="1" rIns="91425" wrap="square" tIns="45700">
            <a:noAutofit/>
          </a:bodyPr>
          <a:lstStyle>
            <a:lvl1pPr lvl="0" algn="ctr">
              <a:lnSpc>
                <a:spcPct val="100000"/>
              </a:lnSpc>
              <a:spcBef>
                <a:spcPts val="480"/>
              </a:spcBef>
              <a:spcAft>
                <a:spcPts val="0"/>
              </a:spcAft>
              <a:buSzPts val="2100"/>
              <a:buNone/>
              <a:defRPr sz="2400">
                <a:latin typeface="Vidaloka"/>
                <a:ea typeface="Vidaloka"/>
                <a:cs typeface="Vidaloka"/>
                <a:sym typeface="Vidaloka"/>
              </a:defRPr>
            </a:lvl1pPr>
            <a:lvl2pPr lvl="1" algn="ctr">
              <a:spcBef>
                <a:spcPts val="360"/>
              </a:spcBef>
              <a:spcAft>
                <a:spcPts val="0"/>
              </a:spcAft>
              <a:buSzPts val="2100"/>
              <a:buNone/>
              <a:defRPr b="1" sz="2100"/>
            </a:lvl2pPr>
            <a:lvl3pPr lvl="2" algn="ctr">
              <a:spcBef>
                <a:spcPts val="360"/>
              </a:spcBef>
              <a:spcAft>
                <a:spcPts val="0"/>
              </a:spcAft>
              <a:buSzPts val="2100"/>
              <a:buNone/>
              <a:defRPr b="1" sz="2100"/>
            </a:lvl3pPr>
            <a:lvl4pPr lvl="3" algn="ctr">
              <a:spcBef>
                <a:spcPts val="360"/>
              </a:spcBef>
              <a:spcAft>
                <a:spcPts val="0"/>
              </a:spcAft>
              <a:buSzPts val="2100"/>
              <a:buNone/>
              <a:defRPr b="1" sz="2100"/>
            </a:lvl4pPr>
            <a:lvl5pPr lvl="4" algn="ctr">
              <a:spcBef>
                <a:spcPts val="360"/>
              </a:spcBef>
              <a:spcAft>
                <a:spcPts val="0"/>
              </a:spcAft>
              <a:buSzPts val="2100"/>
              <a:buNone/>
              <a:defRPr b="1" sz="2100"/>
            </a:lvl5pPr>
            <a:lvl6pPr lvl="5" algn="ctr">
              <a:spcBef>
                <a:spcPts val="500"/>
              </a:spcBef>
              <a:spcAft>
                <a:spcPts val="0"/>
              </a:spcAft>
              <a:buSzPts val="2100"/>
              <a:buNone/>
              <a:defRPr b="1" sz="2100"/>
            </a:lvl6pPr>
            <a:lvl7pPr lvl="6" algn="ctr">
              <a:spcBef>
                <a:spcPts val="500"/>
              </a:spcBef>
              <a:spcAft>
                <a:spcPts val="0"/>
              </a:spcAft>
              <a:buSzPts val="2100"/>
              <a:buNone/>
              <a:defRPr b="1" sz="2100"/>
            </a:lvl7pPr>
            <a:lvl8pPr lvl="7" algn="ctr">
              <a:spcBef>
                <a:spcPts val="500"/>
              </a:spcBef>
              <a:spcAft>
                <a:spcPts val="0"/>
              </a:spcAft>
              <a:buSzPts val="2100"/>
              <a:buNone/>
              <a:defRPr b="1" sz="2100"/>
            </a:lvl8pPr>
            <a:lvl9pPr lvl="8" algn="ctr">
              <a:spcBef>
                <a:spcPts val="500"/>
              </a:spcBef>
              <a:spcAft>
                <a:spcPts val="0"/>
              </a:spcAft>
              <a:buSzPts val="2100"/>
              <a:buNone/>
              <a:defRPr b="1" sz="2100"/>
            </a:lvl9pPr>
          </a:lstStyle>
          <a:p/>
        </p:txBody>
      </p:sp>
      <p:sp>
        <p:nvSpPr>
          <p:cNvPr id="76" name="Google Shape;76;p12"/>
          <p:cNvSpPr txBox="1"/>
          <p:nvPr>
            <p:ph idx="8" type="subTitle"/>
          </p:nvPr>
        </p:nvSpPr>
        <p:spPr>
          <a:xfrm>
            <a:off x="1655250" y="4036125"/>
            <a:ext cx="2486100" cy="618600"/>
          </a:xfrm>
          <a:prstGeom prst="rect">
            <a:avLst/>
          </a:prstGeom>
        </p:spPr>
        <p:txBody>
          <a:bodyPr anchorCtr="0" anchor="t" bIns="45700" lIns="91425" spcFirstLastPara="1" rIns="91425" wrap="square" tIns="45700">
            <a:noAutofit/>
          </a:bodyPr>
          <a:lstStyle>
            <a:lvl1pPr lvl="0" algn="ctr">
              <a:lnSpc>
                <a:spcPct val="100000"/>
              </a:lnSpc>
              <a:spcBef>
                <a:spcPts val="480"/>
              </a:spcBef>
              <a:spcAft>
                <a:spcPts val="0"/>
              </a:spcAft>
              <a:buSzPts val="1400"/>
              <a:buNone/>
              <a:defRPr sz="1400">
                <a:solidFill>
                  <a:schemeClr val="dk1"/>
                </a:solidFill>
              </a:defRPr>
            </a:lvl1pPr>
            <a:lvl2pPr lvl="1" algn="ctr">
              <a:spcBef>
                <a:spcPts val="360"/>
              </a:spcBef>
              <a:spcAft>
                <a:spcPts val="0"/>
              </a:spcAft>
              <a:buSzPts val="1800"/>
              <a:buNone/>
              <a:defRPr/>
            </a:lvl2pPr>
            <a:lvl3pPr lvl="2" algn="ctr">
              <a:spcBef>
                <a:spcPts val="360"/>
              </a:spcBef>
              <a:spcAft>
                <a:spcPts val="0"/>
              </a:spcAft>
              <a:buSzPts val="1800"/>
              <a:buNone/>
              <a:defRPr/>
            </a:lvl3pPr>
            <a:lvl4pPr lvl="3" algn="ctr">
              <a:spcBef>
                <a:spcPts val="360"/>
              </a:spcBef>
              <a:spcAft>
                <a:spcPts val="0"/>
              </a:spcAft>
              <a:buSzPts val="1800"/>
              <a:buNone/>
              <a:defRPr/>
            </a:lvl4pPr>
            <a:lvl5pPr lvl="4" algn="ctr">
              <a:spcBef>
                <a:spcPts val="360"/>
              </a:spcBef>
              <a:spcAft>
                <a:spcPts val="0"/>
              </a:spcAft>
              <a:buSzPts val="1800"/>
              <a:buNone/>
              <a:defRPr/>
            </a:lvl5pPr>
            <a:lvl6pPr lvl="5" algn="ctr">
              <a:spcBef>
                <a:spcPts val="500"/>
              </a:spcBef>
              <a:spcAft>
                <a:spcPts val="0"/>
              </a:spcAft>
              <a:buSzPts val="1800"/>
              <a:buNone/>
              <a:defRPr/>
            </a:lvl6pPr>
            <a:lvl7pPr lvl="6" algn="ctr">
              <a:spcBef>
                <a:spcPts val="500"/>
              </a:spcBef>
              <a:spcAft>
                <a:spcPts val="0"/>
              </a:spcAft>
              <a:buSzPts val="1800"/>
              <a:buNone/>
              <a:defRPr/>
            </a:lvl7pPr>
            <a:lvl8pPr lvl="7" algn="ctr">
              <a:spcBef>
                <a:spcPts val="500"/>
              </a:spcBef>
              <a:spcAft>
                <a:spcPts val="0"/>
              </a:spcAft>
              <a:buSzPts val="1800"/>
              <a:buNone/>
              <a:defRPr/>
            </a:lvl8pPr>
            <a:lvl9pPr lvl="8" algn="ctr">
              <a:spcBef>
                <a:spcPts val="500"/>
              </a:spcBef>
              <a:spcAft>
                <a:spcPts val="0"/>
              </a:spcAft>
              <a:buSzPts val="18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7_1">
    <p:spTree>
      <p:nvGrpSpPr>
        <p:cNvPr id="77" name="Shape 77"/>
        <p:cNvGrpSpPr/>
        <p:nvPr/>
      </p:nvGrpSpPr>
      <p:grpSpPr>
        <a:xfrm>
          <a:off x="0" y="0"/>
          <a:ext cx="0" cy="0"/>
          <a:chOff x="0" y="0"/>
          <a:chExt cx="0" cy="0"/>
        </a:xfrm>
      </p:grpSpPr>
      <p:sp>
        <p:nvSpPr>
          <p:cNvPr id="78" name="Google Shape;78;p13"/>
          <p:cNvSpPr txBox="1"/>
          <p:nvPr>
            <p:ph type="title"/>
          </p:nvPr>
        </p:nvSpPr>
        <p:spPr>
          <a:xfrm>
            <a:off x="803750" y="2040496"/>
            <a:ext cx="4087500" cy="673200"/>
          </a:xfrm>
          <a:prstGeom prst="rect">
            <a:avLst/>
          </a:prstGeom>
        </p:spPr>
        <p:txBody>
          <a:bodyPr anchorCtr="0" anchor="t" bIns="45700" lIns="91425" spcFirstLastPara="1" rIns="91425" wrap="square" tIns="4570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3"/>
          <p:cNvSpPr txBox="1"/>
          <p:nvPr>
            <p:ph idx="1" type="subTitle"/>
          </p:nvPr>
        </p:nvSpPr>
        <p:spPr>
          <a:xfrm>
            <a:off x="803750" y="2693525"/>
            <a:ext cx="3159300" cy="558000"/>
          </a:xfrm>
          <a:prstGeom prst="rect">
            <a:avLst/>
          </a:prstGeom>
        </p:spPr>
        <p:txBody>
          <a:bodyPr anchorCtr="0" anchor="t" bIns="45700" lIns="91425" spcFirstLastPara="1" rIns="91425" wrap="square" tIns="45700">
            <a:noAutofit/>
          </a:bodyPr>
          <a:lstStyle>
            <a:lvl1pPr lvl="0">
              <a:lnSpc>
                <a:spcPct val="100000"/>
              </a:lnSpc>
              <a:spcBef>
                <a:spcPts val="480"/>
              </a:spcBef>
              <a:spcAft>
                <a:spcPts val="0"/>
              </a:spcAft>
              <a:buSzPts val="1400"/>
              <a:buFont typeface="Josefin Sans"/>
              <a:buNone/>
              <a:defRPr sz="1400"/>
            </a:lvl1pPr>
            <a:lvl2pPr lvl="1">
              <a:spcBef>
                <a:spcPts val="360"/>
              </a:spcBef>
              <a:spcAft>
                <a:spcPts val="0"/>
              </a:spcAft>
              <a:buSzPts val="1800"/>
              <a:buNone/>
              <a:defRPr/>
            </a:lvl2pPr>
            <a:lvl3pPr lvl="2">
              <a:spcBef>
                <a:spcPts val="360"/>
              </a:spcBef>
              <a:spcAft>
                <a:spcPts val="0"/>
              </a:spcAft>
              <a:buSzPts val="1800"/>
              <a:buNone/>
              <a:defRPr/>
            </a:lvl3pPr>
            <a:lvl4pPr lvl="3">
              <a:spcBef>
                <a:spcPts val="360"/>
              </a:spcBef>
              <a:spcAft>
                <a:spcPts val="0"/>
              </a:spcAft>
              <a:buSzPts val="1800"/>
              <a:buNone/>
              <a:defRPr/>
            </a:lvl4pPr>
            <a:lvl5pPr lvl="4">
              <a:spcBef>
                <a:spcPts val="360"/>
              </a:spcBef>
              <a:spcAft>
                <a:spcPts val="0"/>
              </a:spcAft>
              <a:buSzPts val="1800"/>
              <a:buNone/>
              <a:defRPr/>
            </a:lvl5pPr>
            <a:lvl6pPr lvl="5">
              <a:spcBef>
                <a:spcPts val="500"/>
              </a:spcBef>
              <a:spcAft>
                <a:spcPts val="0"/>
              </a:spcAft>
              <a:buSzPts val="1800"/>
              <a:buNone/>
              <a:defRPr/>
            </a:lvl6pPr>
            <a:lvl7pPr lvl="6">
              <a:spcBef>
                <a:spcPts val="500"/>
              </a:spcBef>
              <a:spcAft>
                <a:spcPts val="0"/>
              </a:spcAft>
              <a:buSzPts val="1800"/>
              <a:buNone/>
              <a:defRPr/>
            </a:lvl7pPr>
            <a:lvl8pPr lvl="7">
              <a:spcBef>
                <a:spcPts val="500"/>
              </a:spcBef>
              <a:spcAft>
                <a:spcPts val="0"/>
              </a:spcAft>
              <a:buSzPts val="1800"/>
              <a:buNone/>
              <a:defRPr/>
            </a:lvl8pPr>
            <a:lvl9pPr lvl="8">
              <a:spcBef>
                <a:spcPts val="500"/>
              </a:spcBef>
              <a:spcAft>
                <a:spcPts val="0"/>
              </a:spcAft>
              <a:buSzPts val="18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p14"/>
          <p:cNvSpPr txBox="1"/>
          <p:nvPr>
            <p:ph type="title"/>
          </p:nvPr>
        </p:nvSpPr>
        <p:spPr>
          <a:xfrm>
            <a:off x="713225" y="445025"/>
            <a:ext cx="4711500" cy="572700"/>
          </a:xfrm>
          <a:prstGeom prst="rect">
            <a:avLst/>
          </a:prstGeom>
        </p:spPr>
        <p:txBody>
          <a:bodyPr anchorCtr="0" anchor="t" bIns="45700" lIns="91425" spcFirstLastPara="1" rIns="91425" wrap="square" tIns="4570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4"/>
          <p:cNvSpPr txBox="1"/>
          <p:nvPr>
            <p:ph idx="1" type="body"/>
          </p:nvPr>
        </p:nvSpPr>
        <p:spPr>
          <a:xfrm>
            <a:off x="713250" y="1272925"/>
            <a:ext cx="7717500" cy="3295800"/>
          </a:xfrm>
          <a:prstGeom prst="rect">
            <a:avLst/>
          </a:prstGeom>
        </p:spPr>
        <p:txBody>
          <a:bodyPr anchorCtr="0" anchor="t" bIns="45700" lIns="91425" spcFirstLastPara="1" rIns="91425" wrap="square" tIns="45700">
            <a:noAutofit/>
          </a:bodyPr>
          <a:lstStyle>
            <a:lvl1pPr indent="-381000" lvl="0" marL="457200">
              <a:lnSpc>
                <a:spcPct val="100000"/>
              </a:lnSpc>
              <a:spcBef>
                <a:spcPts val="480"/>
              </a:spcBef>
              <a:spcAft>
                <a:spcPts val="0"/>
              </a:spcAft>
              <a:buClr>
                <a:schemeClr val="dk1"/>
              </a:buClr>
              <a:buSzPts val="2400"/>
              <a:buFont typeface="Lato"/>
              <a:buChar char="▪"/>
              <a:defRPr sz="1100"/>
            </a:lvl1pPr>
            <a:lvl2pPr indent="-342900" lvl="1" marL="914400">
              <a:spcBef>
                <a:spcPts val="360"/>
              </a:spcBef>
              <a:spcAft>
                <a:spcPts val="0"/>
              </a:spcAft>
              <a:buClr>
                <a:schemeClr val="dk1"/>
              </a:buClr>
              <a:buSzPts val="1800"/>
              <a:buFont typeface="Lato"/>
              <a:buChar char="▪"/>
              <a:defRPr/>
            </a:lvl2pPr>
            <a:lvl3pPr indent="-342900" lvl="2" marL="1371600">
              <a:spcBef>
                <a:spcPts val="360"/>
              </a:spcBef>
              <a:spcAft>
                <a:spcPts val="0"/>
              </a:spcAft>
              <a:buClr>
                <a:schemeClr val="dk1"/>
              </a:buClr>
              <a:buSzPts val="1800"/>
              <a:buFont typeface="Lato"/>
              <a:buChar char="▪"/>
              <a:defRPr/>
            </a:lvl3pPr>
            <a:lvl4pPr indent="-342900" lvl="3" marL="1828800">
              <a:spcBef>
                <a:spcPts val="360"/>
              </a:spcBef>
              <a:spcAft>
                <a:spcPts val="0"/>
              </a:spcAft>
              <a:buClr>
                <a:schemeClr val="dk1"/>
              </a:buClr>
              <a:buSzPts val="1800"/>
              <a:buFont typeface="Lato"/>
              <a:buChar char="▪"/>
              <a:defRPr/>
            </a:lvl4pPr>
            <a:lvl5pPr indent="-342900" lvl="4" marL="2286000">
              <a:spcBef>
                <a:spcPts val="360"/>
              </a:spcBef>
              <a:spcAft>
                <a:spcPts val="0"/>
              </a:spcAft>
              <a:buClr>
                <a:schemeClr val="dk1"/>
              </a:buClr>
              <a:buSzPts val="1800"/>
              <a:buFont typeface="Lato"/>
              <a:buChar char="▪"/>
              <a:defRPr/>
            </a:lvl5pPr>
            <a:lvl6pPr indent="-342900" lvl="5" marL="2743200">
              <a:spcBef>
                <a:spcPts val="500"/>
              </a:spcBef>
              <a:spcAft>
                <a:spcPts val="0"/>
              </a:spcAft>
              <a:buClr>
                <a:schemeClr val="dk1"/>
              </a:buClr>
              <a:buSzPts val="1800"/>
              <a:buFont typeface="Lato"/>
              <a:buChar char="•"/>
              <a:defRPr/>
            </a:lvl6pPr>
            <a:lvl7pPr indent="-342900" lvl="6" marL="3200400">
              <a:spcBef>
                <a:spcPts val="500"/>
              </a:spcBef>
              <a:spcAft>
                <a:spcPts val="0"/>
              </a:spcAft>
              <a:buClr>
                <a:schemeClr val="dk1"/>
              </a:buClr>
              <a:buSzPts val="1800"/>
              <a:buFont typeface="Lato"/>
              <a:buChar char="•"/>
              <a:defRPr/>
            </a:lvl7pPr>
            <a:lvl8pPr indent="-342900" lvl="7" marL="3657600">
              <a:spcBef>
                <a:spcPts val="500"/>
              </a:spcBef>
              <a:spcAft>
                <a:spcPts val="0"/>
              </a:spcAft>
              <a:buClr>
                <a:schemeClr val="dk1"/>
              </a:buClr>
              <a:buSzPts val="1800"/>
              <a:buFont typeface="Lato"/>
              <a:buChar char="•"/>
              <a:defRPr/>
            </a:lvl8pPr>
            <a:lvl9pPr indent="-342900" lvl="8" marL="4114800">
              <a:spcBef>
                <a:spcPts val="500"/>
              </a:spcBef>
              <a:spcAft>
                <a:spcPts val="0"/>
              </a:spcAft>
              <a:buClr>
                <a:schemeClr val="dk1"/>
              </a:buClr>
              <a:buSzPts val="1800"/>
              <a:buFont typeface="Lato"/>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83" name="Shape 83"/>
        <p:cNvGrpSpPr/>
        <p:nvPr/>
      </p:nvGrpSpPr>
      <p:grpSpPr>
        <a:xfrm>
          <a:off x="0" y="0"/>
          <a:ext cx="0" cy="0"/>
          <a:chOff x="0" y="0"/>
          <a:chExt cx="0" cy="0"/>
        </a:xfrm>
      </p:grpSpPr>
      <p:sp>
        <p:nvSpPr>
          <p:cNvPr id="84" name="Google Shape;84;p15"/>
          <p:cNvSpPr txBox="1"/>
          <p:nvPr>
            <p:ph type="title"/>
          </p:nvPr>
        </p:nvSpPr>
        <p:spPr>
          <a:xfrm>
            <a:off x="2410500" y="2808253"/>
            <a:ext cx="4323000" cy="497700"/>
          </a:xfrm>
          <a:prstGeom prst="rect">
            <a:avLst/>
          </a:prstGeom>
        </p:spPr>
        <p:txBody>
          <a:bodyPr anchorCtr="0" anchor="t" bIns="45700" lIns="91425" spcFirstLastPara="1" rIns="91425" wrap="square" tIns="45700">
            <a:noAutofit/>
          </a:bodyPr>
          <a:lstStyle>
            <a:lvl1pPr lvl="0" algn="ctr">
              <a:spcBef>
                <a:spcPts val="0"/>
              </a:spcBef>
              <a:spcAft>
                <a:spcPts val="0"/>
              </a:spcAft>
              <a:buSzPts val="4800"/>
              <a:buNone/>
              <a:defRPr/>
            </a:lvl1pPr>
            <a:lvl2pPr lvl="1" algn="ctr">
              <a:spcBef>
                <a:spcPts val="0"/>
              </a:spcBef>
              <a:spcAft>
                <a:spcPts val="0"/>
              </a:spcAft>
              <a:buSzPts val="4800"/>
              <a:buFont typeface="Crimson Text"/>
              <a:buNone/>
              <a:defRPr sz="4800">
                <a:latin typeface="Crimson Text"/>
                <a:ea typeface="Crimson Text"/>
                <a:cs typeface="Crimson Text"/>
                <a:sym typeface="Crimson Text"/>
              </a:defRPr>
            </a:lvl2pPr>
            <a:lvl3pPr lvl="2" algn="ctr">
              <a:spcBef>
                <a:spcPts val="0"/>
              </a:spcBef>
              <a:spcAft>
                <a:spcPts val="0"/>
              </a:spcAft>
              <a:buSzPts val="4800"/>
              <a:buFont typeface="Crimson Text"/>
              <a:buNone/>
              <a:defRPr sz="4800">
                <a:latin typeface="Crimson Text"/>
                <a:ea typeface="Crimson Text"/>
                <a:cs typeface="Crimson Text"/>
                <a:sym typeface="Crimson Text"/>
              </a:defRPr>
            </a:lvl3pPr>
            <a:lvl4pPr lvl="3" algn="ctr">
              <a:spcBef>
                <a:spcPts val="0"/>
              </a:spcBef>
              <a:spcAft>
                <a:spcPts val="0"/>
              </a:spcAft>
              <a:buSzPts val="4800"/>
              <a:buFont typeface="Crimson Text"/>
              <a:buNone/>
              <a:defRPr sz="4800">
                <a:latin typeface="Crimson Text"/>
                <a:ea typeface="Crimson Text"/>
                <a:cs typeface="Crimson Text"/>
                <a:sym typeface="Crimson Text"/>
              </a:defRPr>
            </a:lvl4pPr>
            <a:lvl5pPr lvl="4" algn="ctr">
              <a:spcBef>
                <a:spcPts val="0"/>
              </a:spcBef>
              <a:spcAft>
                <a:spcPts val="0"/>
              </a:spcAft>
              <a:buSzPts val="4800"/>
              <a:buFont typeface="Crimson Text"/>
              <a:buNone/>
              <a:defRPr sz="4800">
                <a:latin typeface="Crimson Text"/>
                <a:ea typeface="Crimson Text"/>
                <a:cs typeface="Crimson Text"/>
                <a:sym typeface="Crimson Text"/>
              </a:defRPr>
            </a:lvl5pPr>
            <a:lvl6pPr lvl="5" algn="ctr">
              <a:spcBef>
                <a:spcPts val="0"/>
              </a:spcBef>
              <a:spcAft>
                <a:spcPts val="0"/>
              </a:spcAft>
              <a:buSzPts val="4800"/>
              <a:buFont typeface="Crimson Text"/>
              <a:buNone/>
              <a:defRPr sz="4800">
                <a:latin typeface="Crimson Text"/>
                <a:ea typeface="Crimson Text"/>
                <a:cs typeface="Crimson Text"/>
                <a:sym typeface="Crimson Text"/>
              </a:defRPr>
            </a:lvl6pPr>
            <a:lvl7pPr lvl="6" algn="ctr">
              <a:spcBef>
                <a:spcPts val="0"/>
              </a:spcBef>
              <a:spcAft>
                <a:spcPts val="0"/>
              </a:spcAft>
              <a:buSzPts val="4800"/>
              <a:buFont typeface="Crimson Text"/>
              <a:buNone/>
              <a:defRPr sz="4800">
                <a:latin typeface="Crimson Text"/>
                <a:ea typeface="Crimson Text"/>
                <a:cs typeface="Crimson Text"/>
                <a:sym typeface="Crimson Text"/>
              </a:defRPr>
            </a:lvl7pPr>
            <a:lvl8pPr lvl="7" algn="ctr">
              <a:spcBef>
                <a:spcPts val="0"/>
              </a:spcBef>
              <a:spcAft>
                <a:spcPts val="0"/>
              </a:spcAft>
              <a:buSzPts val="4800"/>
              <a:buFont typeface="Crimson Text"/>
              <a:buNone/>
              <a:defRPr sz="4800">
                <a:latin typeface="Crimson Text"/>
                <a:ea typeface="Crimson Text"/>
                <a:cs typeface="Crimson Text"/>
                <a:sym typeface="Crimson Text"/>
              </a:defRPr>
            </a:lvl8pPr>
            <a:lvl9pPr lvl="8"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85" name="Google Shape;85;p15"/>
          <p:cNvSpPr txBox="1"/>
          <p:nvPr>
            <p:ph idx="1" type="subTitle"/>
          </p:nvPr>
        </p:nvSpPr>
        <p:spPr>
          <a:xfrm>
            <a:off x="1842900" y="1661963"/>
            <a:ext cx="5458200" cy="997200"/>
          </a:xfrm>
          <a:prstGeom prst="rect">
            <a:avLst/>
          </a:prstGeom>
        </p:spPr>
        <p:txBody>
          <a:bodyPr anchorCtr="0" anchor="t" bIns="45700" lIns="91425" spcFirstLastPara="1" rIns="91425" wrap="square" tIns="45700">
            <a:noAutofit/>
          </a:bodyPr>
          <a:lstStyle>
            <a:lvl1pPr lvl="0" algn="ctr">
              <a:lnSpc>
                <a:spcPct val="100000"/>
              </a:lnSpc>
              <a:spcBef>
                <a:spcPts val="480"/>
              </a:spcBef>
              <a:spcAft>
                <a:spcPts val="0"/>
              </a:spcAft>
              <a:buSzPts val="2400"/>
              <a:buNone/>
              <a:defRPr sz="2000"/>
            </a:lvl1pPr>
            <a:lvl2pPr lvl="1" algn="ctr">
              <a:spcBef>
                <a:spcPts val="360"/>
              </a:spcBef>
              <a:spcAft>
                <a:spcPts val="0"/>
              </a:spcAft>
              <a:buSzPts val="1800"/>
              <a:buNone/>
              <a:defRPr/>
            </a:lvl2pPr>
            <a:lvl3pPr lvl="2" algn="ctr">
              <a:spcBef>
                <a:spcPts val="360"/>
              </a:spcBef>
              <a:spcAft>
                <a:spcPts val="0"/>
              </a:spcAft>
              <a:buSzPts val="1800"/>
              <a:buNone/>
              <a:defRPr/>
            </a:lvl3pPr>
            <a:lvl4pPr lvl="3" algn="ctr">
              <a:spcBef>
                <a:spcPts val="360"/>
              </a:spcBef>
              <a:spcAft>
                <a:spcPts val="0"/>
              </a:spcAft>
              <a:buSzPts val="1800"/>
              <a:buNone/>
              <a:defRPr/>
            </a:lvl4pPr>
            <a:lvl5pPr lvl="4" algn="ctr">
              <a:spcBef>
                <a:spcPts val="360"/>
              </a:spcBef>
              <a:spcAft>
                <a:spcPts val="0"/>
              </a:spcAft>
              <a:buSzPts val="1800"/>
              <a:buNone/>
              <a:defRPr/>
            </a:lvl5pPr>
            <a:lvl6pPr lvl="5" algn="ctr">
              <a:spcBef>
                <a:spcPts val="500"/>
              </a:spcBef>
              <a:spcAft>
                <a:spcPts val="0"/>
              </a:spcAft>
              <a:buSzPts val="1800"/>
              <a:buNone/>
              <a:defRPr/>
            </a:lvl6pPr>
            <a:lvl7pPr lvl="6" algn="ctr">
              <a:spcBef>
                <a:spcPts val="500"/>
              </a:spcBef>
              <a:spcAft>
                <a:spcPts val="0"/>
              </a:spcAft>
              <a:buSzPts val="1800"/>
              <a:buNone/>
              <a:defRPr/>
            </a:lvl7pPr>
            <a:lvl8pPr lvl="7" algn="ctr">
              <a:spcBef>
                <a:spcPts val="500"/>
              </a:spcBef>
              <a:spcAft>
                <a:spcPts val="0"/>
              </a:spcAft>
              <a:buSzPts val="1800"/>
              <a:buNone/>
              <a:defRPr/>
            </a:lvl8pPr>
            <a:lvl9pPr lvl="8" algn="ctr">
              <a:spcBef>
                <a:spcPts val="500"/>
              </a:spcBef>
              <a:spcAft>
                <a:spcPts val="0"/>
              </a:spcAft>
              <a:buSzPts val="1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32147"/>
            <a:ext cx="9144000" cy="260700"/>
          </a:xfrm>
          <a:prstGeom prst="rect">
            <a:avLst/>
          </a:prstGeom>
          <a:gradFill>
            <a:gsLst>
              <a:gs pos="0">
                <a:srgbClr val="33333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7" name="Google Shape;7;p1"/>
          <p:cNvSpPr txBox="1"/>
          <p:nvPr>
            <p:ph type="title"/>
          </p:nvPr>
        </p:nvSpPr>
        <p:spPr>
          <a:xfrm>
            <a:off x="609600" y="571500"/>
            <a:ext cx="7924800" cy="51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2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8" name="Google Shape;8;p1"/>
          <p:cNvSpPr txBox="1"/>
          <p:nvPr>
            <p:ph idx="1" type="body"/>
          </p:nvPr>
        </p:nvSpPr>
        <p:spPr>
          <a:xfrm>
            <a:off x="609600" y="1371600"/>
            <a:ext cx="7924800" cy="29148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2675B4"/>
              </a:buClr>
              <a:buSzPts val="2400"/>
              <a:buFont typeface="Noto Sans Symbols"/>
              <a:buChar char="▪"/>
              <a:defRPr b="0" i="0" sz="24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rgbClr val="2675B4"/>
              </a:buClr>
              <a:buSzPts val="1800"/>
              <a:buFont typeface="Noto Sans Symbols"/>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rgbClr val="2675B4"/>
              </a:buClr>
              <a:buSzPts val="1800"/>
              <a:buFont typeface="Noto Sans Symbols"/>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rgbClr val="2675B4"/>
              </a:buClr>
              <a:buSzPts val="1800"/>
              <a:buFont typeface="Noto Sans Symbols"/>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rgbClr val="2675B4"/>
              </a:buClr>
              <a:buSzPts val="1800"/>
              <a:buFont typeface="Noto Sans Symbols"/>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609600" y="0"/>
            <a:ext cx="5105400" cy="2286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200" u="none" cap="none" strike="noStrike">
                <a:solidFill>
                  <a:schemeClr val="lt1"/>
                </a:solidFill>
                <a:latin typeface="Arial"/>
                <a:ea typeface="Arial"/>
                <a:cs typeface="Arial"/>
                <a:sym typeface="Arial"/>
              </a:defRPr>
            </a:lvl1pPr>
            <a:lvl2pPr lvl="1" marR="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10" name="Google Shape;10;p1"/>
          <p:cNvSpPr txBox="1"/>
          <p:nvPr/>
        </p:nvSpPr>
        <p:spPr>
          <a:xfrm>
            <a:off x="609600" y="1143000"/>
            <a:ext cx="79248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200" u="none" cap="none" strike="noStrike">
                <a:solidFill>
                  <a:schemeClr val="lt1"/>
                </a:solidFill>
                <a:latin typeface="Arial"/>
                <a:ea typeface="Arial"/>
                <a:cs typeface="Arial"/>
                <a:sym typeface="Arial"/>
              </a:rPr>
              <a:t>Boston University</a:t>
            </a:r>
            <a:r>
              <a:rPr b="0" i="0" lang="en" sz="1200" u="none" cap="none" strike="noStrike">
                <a:solidFill>
                  <a:schemeClr val="lt1"/>
                </a:solidFill>
                <a:latin typeface="Arial"/>
                <a:ea typeface="Arial"/>
                <a:cs typeface="Arial"/>
                <a:sym typeface="Arial"/>
              </a:rPr>
              <a:t> Slideshow Title Goes Here</a:t>
            </a:r>
            <a:endParaRPr/>
          </a:p>
        </p:txBody>
      </p:sp>
      <p:pic>
        <p:nvPicPr>
          <p:cNvPr id="11" name="Google Shape;11;p1"/>
          <p:cNvPicPr preferRelativeResize="0"/>
          <p:nvPr/>
        </p:nvPicPr>
        <p:blipFill rotWithShape="1">
          <a:blip r:embed="rId1">
            <a:alphaModFix/>
          </a:blip>
          <a:srcRect b="0" l="0" r="0" t="0"/>
          <a:stretch/>
        </p:blipFill>
        <p:spPr>
          <a:xfrm>
            <a:off x="7543800" y="4588669"/>
            <a:ext cx="726281" cy="326231"/>
          </a:xfrm>
          <a:prstGeom prst="rect">
            <a:avLst/>
          </a:prstGeom>
          <a:noFill/>
          <a:ln>
            <a:noFill/>
          </a:ln>
        </p:spPr>
      </p:pic>
      <p:sp>
        <p:nvSpPr>
          <p:cNvPr id="12" name="Google Shape;12;p1"/>
          <p:cNvSpPr txBox="1"/>
          <p:nvPr>
            <p:ph idx="10" type="dt"/>
          </p:nvPr>
        </p:nvSpPr>
        <p:spPr>
          <a:xfrm>
            <a:off x="8001000" y="57150"/>
            <a:ext cx="1066800" cy="1716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baseline="30000" i="0" sz="1200" u="none" cap="none" strike="noStrike">
                <a:solidFill>
                  <a:srgbClr val="CCCCCC"/>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13" name="Google Shape;13;p1"/>
          <p:cNvSpPr/>
          <p:nvPr/>
        </p:nvSpPr>
        <p:spPr>
          <a:xfrm>
            <a:off x="609600" y="4629150"/>
            <a:ext cx="4664100" cy="206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 sz="1200" u="none" cap="none" strike="noStrike">
                <a:solidFill>
                  <a:schemeClr val="dk1"/>
                </a:solidFill>
                <a:latin typeface="Arial"/>
                <a:ea typeface="Arial"/>
                <a:cs typeface="Arial"/>
                <a:sym typeface="Arial"/>
              </a:rPr>
              <a:t>Boston University</a:t>
            </a:r>
            <a:r>
              <a:rPr b="0" i="0" lang="en" sz="1200" u="none" cap="none" strike="noStrike">
                <a:solidFill>
                  <a:schemeClr val="dk1"/>
                </a:solidFill>
                <a:latin typeface="Arial"/>
                <a:ea typeface="Arial"/>
                <a:cs typeface="Arial"/>
                <a:sym typeface="Arial"/>
              </a:rPr>
              <a:t> </a:t>
            </a:r>
            <a:r>
              <a:rPr lang="en" sz="1200">
                <a:solidFill>
                  <a:schemeClr val="dk1"/>
                </a:solidFill>
              </a:rPr>
              <a:t>College of Engineering</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7.j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8.jpg"/><Relationship Id="rId4"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29.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jp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14.png"/><Relationship Id="rId5"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2.png"/><Relationship Id="rId4" Type="http://schemas.openxmlformats.org/officeDocument/2006/relationships/image" Target="../media/image16.png"/><Relationship Id="rId5"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ctrTitle"/>
          </p:nvPr>
        </p:nvSpPr>
        <p:spPr>
          <a:xfrm>
            <a:off x="685800" y="1200150"/>
            <a:ext cx="7772400" cy="857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b="1" lang="en"/>
              <a:t>Configurable CAM and SRAM</a:t>
            </a:r>
            <a:endParaRPr b="1"/>
          </a:p>
        </p:txBody>
      </p:sp>
      <p:sp>
        <p:nvSpPr>
          <p:cNvPr id="91" name="Google Shape;91;p16"/>
          <p:cNvSpPr txBox="1"/>
          <p:nvPr>
            <p:ph idx="1" type="subTitle"/>
          </p:nvPr>
        </p:nvSpPr>
        <p:spPr>
          <a:xfrm>
            <a:off x="685800" y="2400300"/>
            <a:ext cx="7772400" cy="1314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100"/>
              <a:buFont typeface="Arial"/>
              <a:buNone/>
            </a:pPr>
            <a:r>
              <a:rPr lang="en">
                <a:solidFill>
                  <a:schemeClr val="dk1"/>
                </a:solidFill>
              </a:rPr>
              <a:t>Jiaxing Wang, Bryce Hwang</a:t>
            </a:r>
            <a:endParaRPr>
              <a:solidFill>
                <a:schemeClr val="dk1"/>
              </a:solidFill>
            </a:endParaRPr>
          </a:p>
          <a:p>
            <a:pPr indent="0" lvl="0" marL="0" rtl="0" algn="l">
              <a:spcBef>
                <a:spcPts val="360"/>
              </a:spcBef>
              <a:spcAft>
                <a:spcPts val="0"/>
              </a:spcAft>
              <a:buClr>
                <a:schemeClr val="dk1"/>
              </a:buClr>
              <a:buSzPts val="1100"/>
              <a:buFont typeface="Arial"/>
              <a:buNone/>
            </a:pPr>
            <a:r>
              <a:rPr lang="en">
                <a:solidFill>
                  <a:schemeClr val="dk1"/>
                </a:solidFill>
              </a:rPr>
              <a:t>EC571 Final Project</a:t>
            </a:r>
            <a:endParaRPr>
              <a:solidFill>
                <a:schemeClr val="dk1"/>
              </a:solidFill>
            </a:endParaRPr>
          </a:p>
          <a:p>
            <a:pPr indent="0" lvl="0" marL="0" rtl="0" algn="l">
              <a:spcBef>
                <a:spcPts val="360"/>
              </a:spcBef>
              <a:spcAft>
                <a:spcPts val="0"/>
              </a:spcAft>
              <a:buClr>
                <a:schemeClr val="dk1"/>
              </a:buClr>
              <a:buSzPts val="1100"/>
              <a:buFont typeface="Arial"/>
              <a:buNone/>
            </a:pPr>
            <a:r>
              <a:rPr lang="en">
                <a:solidFill>
                  <a:schemeClr val="dk1"/>
                </a:solidFill>
              </a:rPr>
              <a:t>April 22, 2026</a:t>
            </a:r>
            <a:endParaRPr>
              <a:solidFill>
                <a:schemeClr val="dk1"/>
              </a:solidFill>
            </a:endParaRPr>
          </a:p>
        </p:txBody>
      </p:sp>
      <p:sp>
        <p:nvSpPr>
          <p:cNvPr id="92" name="Google Shape;92;p16"/>
          <p:cNvSpPr txBox="1"/>
          <p:nvPr/>
        </p:nvSpPr>
        <p:spPr>
          <a:xfrm>
            <a:off x="685800" y="3570400"/>
            <a:ext cx="4103400" cy="492600"/>
          </a:xfrm>
          <a:prstGeom prst="rect">
            <a:avLst/>
          </a:prstGeom>
          <a:noFill/>
          <a:ln>
            <a:noFill/>
          </a:ln>
        </p:spPr>
        <p:txBody>
          <a:bodyPr anchorCtr="0" anchor="t" bIns="91425" lIns="91425" spcFirstLastPara="1" rIns="91425" wrap="square" tIns="91425">
            <a:spAutoFit/>
          </a:bodyPr>
          <a:lstStyle/>
          <a:p>
            <a:pPr indent="0" lvl="0" marL="0" rtl="0" algn="l">
              <a:spcBef>
                <a:spcPts val="360"/>
              </a:spcBef>
              <a:spcAft>
                <a:spcPts val="0"/>
              </a:spcAft>
              <a:buNone/>
            </a:pPr>
            <a:r>
              <a:rPr lang="en" sz="1000">
                <a:solidFill>
                  <a:schemeClr val="dk1"/>
                </a:solidFill>
              </a:rPr>
              <a:t>Based on “</a:t>
            </a:r>
            <a:r>
              <a:rPr lang="en" sz="1000">
                <a:solidFill>
                  <a:schemeClr val="dk1"/>
                </a:solidFill>
              </a:rPr>
              <a:t>A 28 nm Configurable Memory (TCAM/BCAM/SRAM) Using Push-Rule 6T Bit Cell Enabling Logic-in-Memory”</a:t>
            </a:r>
            <a:endParaRPr sz="10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609600" y="571500"/>
            <a:ext cx="7924800" cy="514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Agenda</a:t>
            </a:r>
            <a:endParaRPr b="1"/>
          </a:p>
        </p:txBody>
      </p:sp>
      <p:sp>
        <p:nvSpPr>
          <p:cNvPr id="98" name="Google Shape;98;p17"/>
          <p:cNvSpPr txBox="1"/>
          <p:nvPr>
            <p:ph idx="1" type="body"/>
          </p:nvPr>
        </p:nvSpPr>
        <p:spPr>
          <a:xfrm>
            <a:off x="609600" y="1371600"/>
            <a:ext cx="7924800" cy="2914800"/>
          </a:xfrm>
          <a:prstGeom prst="rect">
            <a:avLst/>
          </a:prstGeom>
        </p:spPr>
        <p:txBody>
          <a:bodyPr anchorCtr="0" anchor="t" bIns="45700" lIns="91425" spcFirstLastPara="1" rIns="91425" wrap="square" tIns="45700">
            <a:noAutofit/>
          </a:bodyPr>
          <a:lstStyle/>
          <a:p>
            <a:pPr indent="-381000" lvl="0" marL="457200" rtl="0" algn="l">
              <a:lnSpc>
                <a:spcPct val="150000"/>
              </a:lnSpc>
              <a:spcBef>
                <a:spcPts val="360"/>
              </a:spcBef>
              <a:spcAft>
                <a:spcPts val="0"/>
              </a:spcAft>
              <a:buClr>
                <a:schemeClr val="dk1"/>
              </a:buClr>
              <a:buSzPts val="2400"/>
              <a:buFont typeface="Arial"/>
              <a:buAutoNum type="arabicPeriod"/>
            </a:pPr>
            <a:r>
              <a:rPr lang="en"/>
              <a:t>Motivation: Why Configurable?</a:t>
            </a:r>
            <a:endParaRPr/>
          </a:p>
          <a:p>
            <a:pPr indent="-381000" lvl="0" marL="457200" rtl="0" algn="l">
              <a:lnSpc>
                <a:spcPct val="150000"/>
              </a:lnSpc>
              <a:spcBef>
                <a:spcPts val="0"/>
              </a:spcBef>
              <a:spcAft>
                <a:spcPts val="0"/>
              </a:spcAft>
              <a:buClr>
                <a:schemeClr val="dk1"/>
              </a:buClr>
              <a:buSzPts val="2400"/>
              <a:buFont typeface="Arial"/>
              <a:buAutoNum type="arabicPeriod"/>
            </a:pPr>
            <a:r>
              <a:rPr lang="en"/>
              <a:t>Configurable Memory Architecture</a:t>
            </a:r>
            <a:endParaRPr/>
          </a:p>
          <a:p>
            <a:pPr indent="-342900" lvl="1" marL="914400" rtl="0" algn="l">
              <a:lnSpc>
                <a:spcPct val="150000"/>
              </a:lnSpc>
              <a:spcBef>
                <a:spcPts val="0"/>
              </a:spcBef>
              <a:spcAft>
                <a:spcPts val="0"/>
              </a:spcAft>
              <a:buClr>
                <a:srgbClr val="CC0000"/>
              </a:buClr>
              <a:buSzPts val="1800"/>
              <a:buAutoNum type="alphaLcPeriod"/>
            </a:pPr>
            <a:r>
              <a:rPr lang="en"/>
              <a:t>Features</a:t>
            </a:r>
            <a:endParaRPr/>
          </a:p>
          <a:p>
            <a:pPr indent="-381000" lvl="0" marL="457200" rtl="0" algn="l">
              <a:lnSpc>
                <a:spcPct val="150000"/>
              </a:lnSpc>
              <a:spcBef>
                <a:spcPts val="0"/>
              </a:spcBef>
              <a:spcAft>
                <a:spcPts val="0"/>
              </a:spcAft>
              <a:buClr>
                <a:schemeClr val="dk1"/>
              </a:buClr>
              <a:buSzPts val="2400"/>
              <a:buFont typeface="Arial"/>
              <a:buAutoNum type="arabicPeriod"/>
            </a:pPr>
            <a:r>
              <a:rPr lang="en"/>
              <a:t>Examples &amp; Simulation Results</a:t>
            </a:r>
            <a:endParaRPr/>
          </a:p>
          <a:p>
            <a:pPr indent="-381000" lvl="0" marL="457200" rtl="0" algn="l">
              <a:lnSpc>
                <a:spcPct val="150000"/>
              </a:lnSpc>
              <a:spcBef>
                <a:spcPts val="0"/>
              </a:spcBef>
              <a:spcAft>
                <a:spcPts val="0"/>
              </a:spcAft>
              <a:buClr>
                <a:schemeClr val="dk1"/>
              </a:buClr>
              <a:buSzPts val="2400"/>
              <a:buFont typeface="Arial"/>
              <a:buAutoNum type="arabicPeriod"/>
            </a:pPr>
            <a:r>
              <a:rPr lang="en"/>
              <a:t>Cadence Schematics</a:t>
            </a:r>
            <a:endParaRPr/>
          </a:p>
        </p:txBody>
      </p:sp>
      <p:sp>
        <p:nvSpPr>
          <p:cNvPr id="99" name="Google Shape;99;p17"/>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idx="1" type="subTitle"/>
          </p:nvPr>
        </p:nvSpPr>
        <p:spPr>
          <a:xfrm>
            <a:off x="803750" y="2693525"/>
            <a:ext cx="7526700" cy="5580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 sz="3600"/>
              <a:t>Motivation</a:t>
            </a:r>
            <a:endParaRPr b="1" sz="3600"/>
          </a:p>
        </p:txBody>
      </p:sp>
      <p:sp>
        <p:nvSpPr>
          <p:cNvPr id="105" name="Google Shape;105;p18"/>
          <p:cNvSpPr txBox="1"/>
          <p:nvPr>
            <p:ph type="title"/>
          </p:nvPr>
        </p:nvSpPr>
        <p:spPr>
          <a:xfrm>
            <a:off x="803750" y="2040496"/>
            <a:ext cx="4087500" cy="673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01</a:t>
            </a:r>
            <a:endParaRPr/>
          </a:p>
        </p:txBody>
      </p:sp>
      <p:sp>
        <p:nvSpPr>
          <p:cNvPr id="106" name="Google Shape;106;p18"/>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713225" y="445025"/>
            <a:ext cx="47115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Review: 6T SRAM</a:t>
            </a:r>
            <a:endParaRPr b="1"/>
          </a:p>
        </p:txBody>
      </p:sp>
      <p:pic>
        <p:nvPicPr>
          <p:cNvPr id="112" name="Google Shape;112;p19"/>
          <p:cNvPicPr preferRelativeResize="0"/>
          <p:nvPr/>
        </p:nvPicPr>
        <p:blipFill>
          <a:blip r:embed="rId3">
            <a:alphaModFix/>
          </a:blip>
          <a:stretch>
            <a:fillRect/>
          </a:stretch>
        </p:blipFill>
        <p:spPr>
          <a:xfrm>
            <a:off x="2345998" y="1312525"/>
            <a:ext cx="4711500" cy="2518471"/>
          </a:xfrm>
          <a:prstGeom prst="rect">
            <a:avLst/>
          </a:prstGeom>
          <a:noFill/>
          <a:ln>
            <a:noFill/>
          </a:ln>
        </p:spPr>
      </p:pic>
      <p:sp>
        <p:nvSpPr>
          <p:cNvPr id="113" name="Google Shape;113;p19"/>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
        <p:nvSpPr>
          <p:cNvPr id="114" name="Google Shape;114;p19"/>
          <p:cNvSpPr txBox="1"/>
          <p:nvPr/>
        </p:nvSpPr>
        <p:spPr>
          <a:xfrm>
            <a:off x="3124350" y="3831000"/>
            <a:ext cx="31548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dk1"/>
                </a:solidFill>
              </a:rPr>
              <a:t>Standard 6T SRAM</a:t>
            </a:r>
            <a:endParaRPr sz="24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713225" y="445025"/>
            <a:ext cx="47115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Review: CAM</a:t>
            </a:r>
            <a:endParaRPr b="1"/>
          </a:p>
        </p:txBody>
      </p:sp>
      <p:pic>
        <p:nvPicPr>
          <p:cNvPr id="120" name="Google Shape;120;p20"/>
          <p:cNvPicPr preferRelativeResize="0"/>
          <p:nvPr/>
        </p:nvPicPr>
        <p:blipFill>
          <a:blip r:embed="rId3">
            <a:alphaModFix/>
          </a:blip>
          <a:stretch>
            <a:fillRect/>
          </a:stretch>
        </p:blipFill>
        <p:spPr>
          <a:xfrm>
            <a:off x="1469475" y="1378525"/>
            <a:ext cx="2217530" cy="2239425"/>
          </a:xfrm>
          <a:prstGeom prst="rect">
            <a:avLst/>
          </a:prstGeom>
          <a:noFill/>
          <a:ln>
            <a:noFill/>
          </a:ln>
        </p:spPr>
      </p:pic>
      <p:pic>
        <p:nvPicPr>
          <p:cNvPr id="121" name="Google Shape;121;p20"/>
          <p:cNvPicPr preferRelativeResize="0"/>
          <p:nvPr/>
        </p:nvPicPr>
        <p:blipFill>
          <a:blip r:embed="rId4">
            <a:alphaModFix/>
          </a:blip>
          <a:stretch>
            <a:fillRect/>
          </a:stretch>
        </p:blipFill>
        <p:spPr>
          <a:xfrm>
            <a:off x="4786625" y="1328942"/>
            <a:ext cx="3387151" cy="2239425"/>
          </a:xfrm>
          <a:prstGeom prst="rect">
            <a:avLst/>
          </a:prstGeom>
          <a:noFill/>
          <a:ln>
            <a:noFill/>
          </a:ln>
        </p:spPr>
      </p:pic>
      <p:sp>
        <p:nvSpPr>
          <p:cNvPr id="122" name="Google Shape;122;p20"/>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23" name="Google Shape;123;p20"/>
          <p:cNvSpPr txBox="1"/>
          <p:nvPr/>
        </p:nvSpPr>
        <p:spPr>
          <a:xfrm>
            <a:off x="1360975" y="3568375"/>
            <a:ext cx="24345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dk1"/>
                </a:solidFill>
              </a:rPr>
              <a:t>m</a:t>
            </a:r>
            <a:r>
              <a:rPr lang="en" sz="2400">
                <a:solidFill>
                  <a:schemeClr val="dk1"/>
                </a:solidFill>
              </a:rPr>
              <a:t>l – match line</a:t>
            </a:r>
            <a:endParaRPr sz="2400">
              <a:solidFill>
                <a:schemeClr val="dk1"/>
              </a:solidFill>
            </a:endParaRPr>
          </a:p>
        </p:txBody>
      </p:sp>
      <p:sp>
        <p:nvSpPr>
          <p:cNvPr id="124" name="Google Shape;124;p20"/>
          <p:cNvSpPr txBox="1"/>
          <p:nvPr/>
        </p:nvSpPr>
        <p:spPr>
          <a:xfrm>
            <a:off x="4755050" y="3568375"/>
            <a:ext cx="3450300" cy="55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dk1"/>
                </a:solidFill>
              </a:rPr>
              <a:t>Can allow 1, 0, X</a:t>
            </a:r>
            <a:endParaRPr sz="24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713225" y="445025"/>
            <a:ext cx="47115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Problems with CAM</a:t>
            </a:r>
            <a:endParaRPr b="1"/>
          </a:p>
        </p:txBody>
      </p:sp>
      <p:sp>
        <p:nvSpPr>
          <p:cNvPr id="130" name="Google Shape;130;p21"/>
          <p:cNvSpPr txBox="1"/>
          <p:nvPr>
            <p:ph idx="1" type="body"/>
          </p:nvPr>
        </p:nvSpPr>
        <p:spPr>
          <a:xfrm>
            <a:off x="713250" y="1272925"/>
            <a:ext cx="7717500" cy="1254900"/>
          </a:xfrm>
          <a:prstGeom prst="rect">
            <a:avLst/>
          </a:prstGeom>
        </p:spPr>
        <p:txBody>
          <a:bodyPr anchorCtr="0" anchor="t" bIns="45700" lIns="91425" spcFirstLastPara="1" rIns="91425" wrap="square" tIns="45700">
            <a:noAutofit/>
          </a:bodyPr>
          <a:lstStyle/>
          <a:p>
            <a:pPr indent="-330200" lvl="0" marL="457200" rtl="0" algn="l">
              <a:lnSpc>
                <a:spcPct val="115000"/>
              </a:lnSpc>
              <a:spcBef>
                <a:spcPts val="480"/>
              </a:spcBef>
              <a:spcAft>
                <a:spcPts val="0"/>
              </a:spcAft>
              <a:buSzPts val="1600"/>
              <a:buChar char="▪"/>
            </a:pPr>
            <a:r>
              <a:rPr lang="en" sz="1600"/>
              <a:t>Bigger (10T vs 6T)</a:t>
            </a:r>
            <a:endParaRPr sz="1600"/>
          </a:p>
          <a:p>
            <a:pPr indent="-330200" lvl="0" marL="457200" rtl="0" algn="l">
              <a:lnSpc>
                <a:spcPct val="115000"/>
              </a:lnSpc>
              <a:spcBef>
                <a:spcPts val="0"/>
              </a:spcBef>
              <a:spcAft>
                <a:spcPts val="0"/>
              </a:spcAft>
              <a:buSzPts val="1600"/>
              <a:buChar char="▪"/>
            </a:pPr>
            <a:r>
              <a:rPr lang="en" sz="1600"/>
              <a:t>Higher capacitance</a:t>
            </a:r>
            <a:endParaRPr sz="1600"/>
          </a:p>
          <a:p>
            <a:pPr indent="-330200" lvl="0" marL="457200" rtl="0" algn="l">
              <a:lnSpc>
                <a:spcPct val="115000"/>
              </a:lnSpc>
              <a:spcBef>
                <a:spcPts val="0"/>
              </a:spcBef>
              <a:spcAft>
                <a:spcPts val="0"/>
              </a:spcAft>
              <a:buSzPts val="1600"/>
              <a:buChar char="▪"/>
            </a:pPr>
            <a:r>
              <a:rPr lang="en" sz="1600"/>
              <a:t>More power</a:t>
            </a:r>
            <a:endParaRPr sz="1600"/>
          </a:p>
          <a:p>
            <a:pPr indent="-330200" lvl="0" marL="457200" rtl="0" algn="l">
              <a:lnSpc>
                <a:spcPct val="115000"/>
              </a:lnSpc>
              <a:spcBef>
                <a:spcPts val="0"/>
              </a:spcBef>
              <a:spcAft>
                <a:spcPts val="0"/>
              </a:spcAft>
              <a:buSzPts val="1600"/>
              <a:buChar char="▪"/>
            </a:pPr>
            <a:r>
              <a:rPr lang="en" sz="1600"/>
              <a:t>Less energy efficient</a:t>
            </a:r>
            <a:endParaRPr sz="1600"/>
          </a:p>
        </p:txBody>
      </p:sp>
      <p:sp>
        <p:nvSpPr>
          <p:cNvPr id="131" name="Google Shape;131;p2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
        <p:nvSpPr>
          <p:cNvPr id="132" name="Google Shape;132;p21"/>
          <p:cNvSpPr txBox="1"/>
          <p:nvPr/>
        </p:nvSpPr>
        <p:spPr>
          <a:xfrm>
            <a:off x="2091300" y="4104550"/>
            <a:ext cx="4961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t>Solution: Use 6T SRAM cells as CAM</a:t>
            </a:r>
            <a:endParaRPr sz="1800"/>
          </a:p>
        </p:txBody>
      </p:sp>
      <p:pic>
        <p:nvPicPr>
          <p:cNvPr id="133" name="Google Shape;133;p21" title="6t sram"/>
          <p:cNvPicPr preferRelativeResize="0"/>
          <p:nvPr/>
        </p:nvPicPr>
        <p:blipFill rotWithShape="1">
          <a:blip r:embed="rId3">
            <a:alphaModFix/>
          </a:blip>
          <a:srcRect b="5120" l="6832" r="14372" t="7352"/>
          <a:stretch/>
        </p:blipFill>
        <p:spPr>
          <a:xfrm>
            <a:off x="4827463" y="2687325"/>
            <a:ext cx="1791275" cy="1184350"/>
          </a:xfrm>
          <a:prstGeom prst="rect">
            <a:avLst/>
          </a:prstGeom>
          <a:noFill/>
          <a:ln>
            <a:noFill/>
          </a:ln>
        </p:spPr>
      </p:pic>
      <p:pic>
        <p:nvPicPr>
          <p:cNvPr id="134" name="Google Shape;134;p21"/>
          <p:cNvPicPr preferRelativeResize="0"/>
          <p:nvPr/>
        </p:nvPicPr>
        <p:blipFill>
          <a:blip r:embed="rId4">
            <a:alphaModFix/>
          </a:blip>
          <a:stretch>
            <a:fillRect/>
          </a:stretch>
        </p:blipFill>
        <p:spPr>
          <a:xfrm>
            <a:off x="2525260" y="2454450"/>
            <a:ext cx="1634000" cy="1650100"/>
          </a:xfrm>
          <a:prstGeom prst="rect">
            <a:avLst/>
          </a:prstGeom>
          <a:noFill/>
          <a:ln>
            <a:noFill/>
          </a:ln>
        </p:spPr>
      </p:pic>
      <p:sp>
        <p:nvSpPr>
          <p:cNvPr id="135" name="Google Shape;135;p21"/>
          <p:cNvSpPr txBox="1"/>
          <p:nvPr>
            <p:ph idx="1" type="body"/>
          </p:nvPr>
        </p:nvSpPr>
        <p:spPr>
          <a:xfrm>
            <a:off x="4197413" y="3122225"/>
            <a:ext cx="591900" cy="497700"/>
          </a:xfrm>
          <a:prstGeom prst="rect">
            <a:avLst/>
          </a:prstGeom>
        </p:spPr>
        <p:txBody>
          <a:bodyPr anchorCtr="0" anchor="t" bIns="45700" lIns="91425" spcFirstLastPara="1" rIns="91425" wrap="square" tIns="45700">
            <a:noAutofit/>
          </a:bodyPr>
          <a:lstStyle/>
          <a:p>
            <a:pPr indent="0" lvl="0" marL="0" rtl="0" algn="ctr">
              <a:spcBef>
                <a:spcPts val="480"/>
              </a:spcBef>
              <a:spcAft>
                <a:spcPts val="0"/>
              </a:spcAft>
              <a:buNone/>
            </a:pPr>
            <a:r>
              <a:rPr lang="en" sz="1600"/>
              <a:t>vs.</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idx="1" type="subTitle"/>
          </p:nvPr>
        </p:nvSpPr>
        <p:spPr>
          <a:xfrm>
            <a:off x="803750" y="2693525"/>
            <a:ext cx="7365300" cy="5580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 sz="3600"/>
              <a:t>Configurable Memory Architecture</a:t>
            </a:r>
            <a:endParaRPr b="1" sz="3600"/>
          </a:p>
        </p:txBody>
      </p:sp>
      <p:sp>
        <p:nvSpPr>
          <p:cNvPr id="141" name="Google Shape;141;p22"/>
          <p:cNvSpPr txBox="1"/>
          <p:nvPr>
            <p:ph type="title"/>
          </p:nvPr>
        </p:nvSpPr>
        <p:spPr>
          <a:xfrm>
            <a:off x="803750" y="2040496"/>
            <a:ext cx="4087500" cy="673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02</a:t>
            </a:r>
            <a:endParaRPr/>
          </a:p>
        </p:txBody>
      </p:sp>
      <p:sp>
        <p:nvSpPr>
          <p:cNvPr id="142" name="Google Shape;142;p22"/>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713225" y="445025"/>
            <a:ext cx="47115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Proposed Architecture</a:t>
            </a:r>
            <a:endParaRPr b="1"/>
          </a:p>
        </p:txBody>
      </p:sp>
      <p:sp>
        <p:nvSpPr>
          <p:cNvPr id="148" name="Google Shape;148;p23"/>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pic>
        <p:nvPicPr>
          <p:cNvPr id="149" name="Google Shape;149;p23"/>
          <p:cNvPicPr preferRelativeResize="0"/>
          <p:nvPr/>
        </p:nvPicPr>
        <p:blipFill>
          <a:blip r:embed="rId3">
            <a:alphaModFix/>
          </a:blip>
          <a:stretch>
            <a:fillRect/>
          </a:stretch>
        </p:blipFill>
        <p:spPr>
          <a:xfrm>
            <a:off x="2937900" y="1017725"/>
            <a:ext cx="3268201" cy="3233750"/>
          </a:xfrm>
          <a:prstGeom prst="rect">
            <a:avLst/>
          </a:prstGeom>
          <a:noFill/>
          <a:ln>
            <a:noFill/>
          </a:ln>
        </p:spPr>
      </p:pic>
      <p:pic>
        <p:nvPicPr>
          <p:cNvPr id="150" name="Google Shape;150;p23"/>
          <p:cNvPicPr preferRelativeResize="0"/>
          <p:nvPr/>
        </p:nvPicPr>
        <p:blipFill>
          <a:blip r:embed="rId4">
            <a:alphaModFix/>
          </a:blip>
          <a:stretch>
            <a:fillRect/>
          </a:stretch>
        </p:blipFill>
        <p:spPr>
          <a:xfrm>
            <a:off x="2937900" y="4251470"/>
            <a:ext cx="2892500" cy="258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txBox="1"/>
          <p:nvPr>
            <p:ph type="title"/>
          </p:nvPr>
        </p:nvSpPr>
        <p:spPr>
          <a:xfrm>
            <a:off x="713225" y="445025"/>
            <a:ext cx="53019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Memory</a:t>
            </a:r>
            <a:r>
              <a:rPr b="1" lang="en"/>
              <a:t> Architecture Features</a:t>
            </a:r>
            <a:endParaRPr b="1"/>
          </a:p>
        </p:txBody>
      </p:sp>
      <p:sp>
        <p:nvSpPr>
          <p:cNvPr id="156" name="Google Shape;156;p24"/>
          <p:cNvSpPr txBox="1"/>
          <p:nvPr>
            <p:ph idx="1" type="body"/>
          </p:nvPr>
        </p:nvSpPr>
        <p:spPr>
          <a:xfrm>
            <a:off x="713250" y="1272925"/>
            <a:ext cx="5301900" cy="3295800"/>
          </a:xfrm>
          <a:prstGeom prst="rect">
            <a:avLst/>
          </a:prstGeom>
        </p:spPr>
        <p:txBody>
          <a:bodyPr anchorCtr="0" anchor="t" bIns="45700" lIns="91425" spcFirstLastPara="1" rIns="91425" wrap="square" tIns="45700">
            <a:noAutofit/>
          </a:bodyPr>
          <a:lstStyle/>
          <a:p>
            <a:pPr indent="-292100" lvl="0" marL="342900" rtl="0" algn="l">
              <a:lnSpc>
                <a:spcPct val="115000"/>
              </a:lnSpc>
              <a:spcBef>
                <a:spcPts val="480"/>
              </a:spcBef>
              <a:spcAft>
                <a:spcPts val="0"/>
              </a:spcAft>
              <a:buSzPts val="1600"/>
              <a:buChar char="▪"/>
            </a:pPr>
            <a:r>
              <a:rPr lang="en" sz="1600"/>
              <a:t>SRAM</a:t>
            </a:r>
            <a:endParaRPr sz="1600"/>
          </a:p>
          <a:p>
            <a:pPr indent="-273050" lvl="1" marL="742950" rtl="0" algn="l">
              <a:lnSpc>
                <a:spcPct val="115000"/>
              </a:lnSpc>
              <a:spcBef>
                <a:spcPts val="360"/>
              </a:spcBef>
              <a:spcAft>
                <a:spcPts val="0"/>
              </a:spcAft>
              <a:buSzPts val="1600"/>
              <a:buChar char="▪"/>
            </a:pPr>
            <a:r>
              <a:rPr lang="en" sz="1600"/>
              <a:t>Read, Write (row-wise)</a:t>
            </a:r>
            <a:endParaRPr sz="1600"/>
          </a:p>
          <a:p>
            <a:pPr indent="-292100" lvl="0" marL="342900" rtl="0" algn="l">
              <a:lnSpc>
                <a:spcPct val="115000"/>
              </a:lnSpc>
              <a:spcBef>
                <a:spcPts val="480"/>
              </a:spcBef>
              <a:spcAft>
                <a:spcPts val="0"/>
              </a:spcAft>
              <a:buSzPts val="1600"/>
              <a:buChar char="▪"/>
            </a:pPr>
            <a:r>
              <a:rPr lang="en" sz="1600"/>
              <a:t>BCAM</a:t>
            </a:r>
            <a:endParaRPr sz="1600"/>
          </a:p>
          <a:p>
            <a:pPr indent="-273050" lvl="1" marL="742950" rtl="0" algn="l">
              <a:lnSpc>
                <a:spcPct val="115000"/>
              </a:lnSpc>
              <a:spcBef>
                <a:spcPts val="360"/>
              </a:spcBef>
              <a:spcAft>
                <a:spcPts val="0"/>
              </a:spcAft>
              <a:buSzPts val="1600"/>
              <a:buChar char="▪"/>
            </a:pPr>
            <a:r>
              <a:rPr lang="en" sz="1600"/>
              <a:t>Search, Write (column-wise)</a:t>
            </a:r>
            <a:endParaRPr sz="1600"/>
          </a:p>
          <a:p>
            <a:pPr indent="-292100" lvl="0" marL="342900" rtl="0" algn="l">
              <a:lnSpc>
                <a:spcPct val="115000"/>
              </a:lnSpc>
              <a:spcBef>
                <a:spcPts val="480"/>
              </a:spcBef>
              <a:spcAft>
                <a:spcPts val="0"/>
              </a:spcAft>
              <a:buSzPts val="1600"/>
              <a:buChar char="▪"/>
            </a:pPr>
            <a:r>
              <a:rPr lang="en" sz="1600"/>
              <a:t>TCAM</a:t>
            </a:r>
            <a:endParaRPr sz="1600"/>
          </a:p>
          <a:p>
            <a:pPr indent="-273050" lvl="1" marL="742950" rtl="0" algn="l">
              <a:lnSpc>
                <a:spcPct val="115000"/>
              </a:lnSpc>
              <a:spcBef>
                <a:spcPts val="360"/>
              </a:spcBef>
              <a:spcAft>
                <a:spcPts val="0"/>
              </a:spcAft>
              <a:buSzPts val="1600"/>
              <a:buChar char="▪"/>
            </a:pPr>
            <a:r>
              <a:rPr lang="en" sz="1600"/>
              <a:t>Search, Write</a:t>
            </a:r>
            <a:endParaRPr sz="1600"/>
          </a:p>
          <a:p>
            <a:pPr indent="-292100" lvl="0" marL="342900" rtl="0" algn="l">
              <a:lnSpc>
                <a:spcPct val="115000"/>
              </a:lnSpc>
              <a:spcBef>
                <a:spcPts val="480"/>
              </a:spcBef>
              <a:spcAft>
                <a:spcPts val="0"/>
              </a:spcAft>
              <a:buSzPts val="1600"/>
              <a:buChar char="▪"/>
            </a:pPr>
            <a:r>
              <a:rPr lang="en" sz="1600"/>
              <a:t>Logic Operations</a:t>
            </a:r>
            <a:endParaRPr sz="1600"/>
          </a:p>
          <a:p>
            <a:pPr indent="-273050" lvl="1" marL="742950" rtl="0" algn="l">
              <a:lnSpc>
                <a:spcPct val="115000"/>
              </a:lnSpc>
              <a:spcBef>
                <a:spcPts val="360"/>
              </a:spcBef>
              <a:spcAft>
                <a:spcPts val="0"/>
              </a:spcAft>
              <a:buSzPts val="1600"/>
              <a:buChar char="▪"/>
            </a:pPr>
            <a:r>
              <a:rPr lang="en" sz="1600"/>
              <a:t>AND, NOR, etc.</a:t>
            </a:r>
            <a:endParaRPr sz="1600"/>
          </a:p>
        </p:txBody>
      </p:sp>
      <p:sp>
        <p:nvSpPr>
          <p:cNvPr id="157" name="Google Shape;157;p24"/>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pic>
        <p:nvPicPr>
          <p:cNvPr id="158" name="Google Shape;158;p24" title="Scrap Paper 2026-50.jpg"/>
          <p:cNvPicPr preferRelativeResize="0"/>
          <p:nvPr/>
        </p:nvPicPr>
        <p:blipFill rotWithShape="1">
          <a:blip r:embed="rId3">
            <a:alphaModFix/>
          </a:blip>
          <a:srcRect b="0" l="5015" r="0" t="0"/>
          <a:stretch/>
        </p:blipFill>
        <p:spPr>
          <a:xfrm>
            <a:off x="4706875" y="1123375"/>
            <a:ext cx="4065951" cy="3306475"/>
          </a:xfrm>
          <a:prstGeom prst="rect">
            <a:avLst/>
          </a:prstGeom>
          <a:noFill/>
          <a:ln>
            <a:noFill/>
          </a:ln>
        </p:spPr>
      </p:pic>
      <p:pic>
        <p:nvPicPr>
          <p:cNvPr id="159" name="Google Shape;159;p24"/>
          <p:cNvPicPr preferRelativeResize="0"/>
          <p:nvPr/>
        </p:nvPicPr>
        <p:blipFill rotWithShape="1">
          <a:blip r:embed="rId4">
            <a:alphaModFix/>
          </a:blip>
          <a:srcRect b="0" l="17342" r="0" t="24931"/>
          <a:stretch/>
        </p:blipFill>
        <p:spPr>
          <a:xfrm>
            <a:off x="4941925" y="4336825"/>
            <a:ext cx="2293150" cy="154600"/>
          </a:xfrm>
          <a:prstGeom prst="rect">
            <a:avLst/>
          </a:prstGeom>
          <a:noFill/>
          <a:ln>
            <a:noFill/>
          </a:ln>
        </p:spPr>
      </p:pic>
      <p:cxnSp>
        <p:nvCxnSpPr>
          <p:cNvPr id="160" name="Google Shape;160;p24"/>
          <p:cNvCxnSpPr/>
          <p:nvPr/>
        </p:nvCxnSpPr>
        <p:spPr>
          <a:xfrm>
            <a:off x="4514700" y="3633775"/>
            <a:ext cx="1173600" cy="144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713225" y="445025"/>
            <a:ext cx="53019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Configurable Sense Amplifier</a:t>
            </a:r>
            <a:endParaRPr b="1"/>
          </a:p>
        </p:txBody>
      </p:sp>
      <p:sp>
        <p:nvSpPr>
          <p:cNvPr id="166" name="Google Shape;166;p25"/>
          <p:cNvSpPr txBox="1"/>
          <p:nvPr>
            <p:ph idx="1" type="body"/>
          </p:nvPr>
        </p:nvSpPr>
        <p:spPr>
          <a:xfrm>
            <a:off x="713250" y="1272925"/>
            <a:ext cx="5023800" cy="3295800"/>
          </a:xfrm>
          <a:prstGeom prst="rect">
            <a:avLst/>
          </a:prstGeom>
        </p:spPr>
        <p:txBody>
          <a:bodyPr anchorCtr="0" anchor="t" bIns="45700" lIns="91425" spcFirstLastPara="1" rIns="91425" wrap="square" tIns="45700">
            <a:noAutofit/>
          </a:bodyPr>
          <a:lstStyle/>
          <a:p>
            <a:pPr indent="-330200" lvl="0" marL="457200" rtl="0" algn="l">
              <a:lnSpc>
                <a:spcPct val="115000"/>
              </a:lnSpc>
              <a:spcBef>
                <a:spcPts val="480"/>
              </a:spcBef>
              <a:spcAft>
                <a:spcPts val="0"/>
              </a:spcAft>
              <a:buSzPts val="1600"/>
              <a:buFont typeface="Montserrat"/>
              <a:buChar char="▪"/>
            </a:pPr>
            <a:r>
              <a:rPr lang="en" sz="1600"/>
              <a:t>Switches function depending on mode</a:t>
            </a:r>
            <a:endParaRPr sz="1600"/>
          </a:p>
          <a:p>
            <a:pPr indent="-273050" lvl="1" marL="742950" rtl="0" algn="l">
              <a:lnSpc>
                <a:spcPct val="115000"/>
              </a:lnSpc>
              <a:spcBef>
                <a:spcPts val="360"/>
              </a:spcBef>
              <a:spcAft>
                <a:spcPts val="0"/>
              </a:spcAft>
              <a:buSzPts val="1600"/>
              <a:buFont typeface="Montserrat"/>
              <a:buChar char="▪"/>
            </a:pPr>
            <a:r>
              <a:rPr lang="en" sz="1600" u="sng"/>
              <a:t>CAM mode</a:t>
            </a:r>
            <a:r>
              <a:rPr lang="en" sz="1600"/>
              <a:t>: cross-coupled inverters operate independently</a:t>
            </a:r>
            <a:endParaRPr sz="1600"/>
          </a:p>
          <a:p>
            <a:pPr indent="-215900" lvl="2" marL="1143000" rtl="0" algn="l">
              <a:lnSpc>
                <a:spcPct val="115000"/>
              </a:lnSpc>
              <a:spcBef>
                <a:spcPts val="360"/>
              </a:spcBef>
              <a:spcAft>
                <a:spcPts val="0"/>
              </a:spcAft>
              <a:buSzPts val="1600"/>
              <a:buChar char="▪"/>
            </a:pPr>
            <a:r>
              <a:rPr lang="en" sz="1600"/>
              <a:t>Becomes </a:t>
            </a:r>
            <a:r>
              <a:rPr lang="en" sz="1600" u="sng"/>
              <a:t>two sense amplifiers</a:t>
            </a:r>
            <a:endParaRPr sz="1600" u="sng"/>
          </a:p>
          <a:p>
            <a:pPr indent="-273050" lvl="1" marL="742950" marR="0" rtl="0" algn="l">
              <a:lnSpc>
                <a:spcPct val="115000"/>
              </a:lnSpc>
              <a:spcBef>
                <a:spcPts val="0"/>
              </a:spcBef>
              <a:spcAft>
                <a:spcPts val="0"/>
              </a:spcAft>
              <a:buSzPts val="1600"/>
              <a:buChar char="▪"/>
            </a:pPr>
            <a:r>
              <a:rPr lang="en" sz="1600" u="sng"/>
              <a:t>SRAM mode</a:t>
            </a:r>
            <a:r>
              <a:rPr lang="en" sz="1600"/>
              <a:t>: cross-</a:t>
            </a:r>
            <a:r>
              <a:rPr lang="en" sz="1600"/>
              <a:t>coupled</a:t>
            </a:r>
            <a:r>
              <a:rPr lang="en" sz="1600"/>
              <a:t> inverters are in parallel</a:t>
            </a:r>
            <a:endParaRPr sz="1600"/>
          </a:p>
          <a:p>
            <a:pPr indent="-215900" lvl="2" marL="1143000" marR="0" rtl="0" algn="l">
              <a:lnSpc>
                <a:spcPct val="115000"/>
              </a:lnSpc>
              <a:spcBef>
                <a:spcPts val="0"/>
              </a:spcBef>
              <a:spcAft>
                <a:spcPts val="0"/>
              </a:spcAft>
              <a:buSzPts val="1600"/>
              <a:buChar char="▪"/>
            </a:pPr>
            <a:r>
              <a:rPr lang="en" sz="1600"/>
              <a:t>Becomes </a:t>
            </a:r>
            <a:r>
              <a:rPr lang="en" sz="1600" u="sng"/>
              <a:t>one sense amplifier</a:t>
            </a:r>
            <a:endParaRPr sz="1600"/>
          </a:p>
        </p:txBody>
      </p:sp>
      <p:pic>
        <p:nvPicPr>
          <p:cNvPr id="167" name="Google Shape;167;p25" title="Screenshot 2026-04-10 at 2.49.22 PM.png"/>
          <p:cNvPicPr preferRelativeResize="0"/>
          <p:nvPr/>
        </p:nvPicPr>
        <p:blipFill rotWithShape="1">
          <a:blip r:embed="rId3">
            <a:alphaModFix/>
          </a:blip>
          <a:srcRect b="1361" l="1779" r="2067" t="2123"/>
          <a:stretch/>
        </p:blipFill>
        <p:spPr>
          <a:xfrm>
            <a:off x="5901200" y="812025"/>
            <a:ext cx="2795075" cy="3756700"/>
          </a:xfrm>
          <a:prstGeom prst="rect">
            <a:avLst/>
          </a:prstGeom>
          <a:noFill/>
          <a:ln>
            <a:noFill/>
          </a:ln>
        </p:spPr>
      </p:pic>
      <p:sp>
        <p:nvSpPr>
          <p:cNvPr id="168" name="Google Shape;168;p25"/>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cxnSp>
        <p:nvCxnSpPr>
          <p:cNvPr id="169" name="Google Shape;169;p25"/>
          <p:cNvCxnSpPr/>
          <p:nvPr/>
        </p:nvCxnSpPr>
        <p:spPr>
          <a:xfrm flipH="1">
            <a:off x="6497900" y="1059575"/>
            <a:ext cx="6900" cy="2196300"/>
          </a:xfrm>
          <a:prstGeom prst="straightConnector1">
            <a:avLst/>
          </a:prstGeom>
          <a:noFill/>
          <a:ln cap="flat" cmpd="sng" w="28575">
            <a:solidFill>
              <a:srgbClr val="FF0000"/>
            </a:solidFill>
            <a:prstDash val="solid"/>
            <a:round/>
            <a:headEnd len="med" w="med" type="none"/>
            <a:tailEnd len="med" w="med" type="none"/>
          </a:ln>
        </p:spPr>
      </p:cxnSp>
      <p:cxnSp>
        <p:nvCxnSpPr>
          <p:cNvPr id="170" name="Google Shape;170;p25"/>
          <p:cNvCxnSpPr/>
          <p:nvPr/>
        </p:nvCxnSpPr>
        <p:spPr>
          <a:xfrm>
            <a:off x="6504800" y="3262925"/>
            <a:ext cx="1936800" cy="14100"/>
          </a:xfrm>
          <a:prstGeom prst="straightConnector1">
            <a:avLst/>
          </a:prstGeom>
          <a:noFill/>
          <a:ln cap="flat" cmpd="sng" w="28575">
            <a:solidFill>
              <a:srgbClr val="FF0000"/>
            </a:solidFill>
            <a:prstDash val="solid"/>
            <a:round/>
            <a:headEnd len="med" w="med" type="none"/>
            <a:tailEnd len="med" w="med" type="none"/>
          </a:ln>
        </p:spPr>
      </p:cxnSp>
      <p:cxnSp>
        <p:nvCxnSpPr>
          <p:cNvPr id="171" name="Google Shape;171;p25"/>
          <p:cNvCxnSpPr/>
          <p:nvPr/>
        </p:nvCxnSpPr>
        <p:spPr>
          <a:xfrm rot="10800000">
            <a:off x="8427600" y="1277150"/>
            <a:ext cx="6900" cy="2771700"/>
          </a:xfrm>
          <a:prstGeom prst="straightConnector1">
            <a:avLst/>
          </a:prstGeom>
          <a:noFill/>
          <a:ln cap="flat" cmpd="sng" w="28575">
            <a:solidFill>
              <a:srgbClr val="FF0000"/>
            </a:solidFill>
            <a:prstDash val="solid"/>
            <a:round/>
            <a:headEnd len="med" w="med" type="none"/>
            <a:tailEnd len="med" w="med" type="none"/>
          </a:ln>
        </p:spPr>
      </p:cxnSp>
      <p:cxnSp>
        <p:nvCxnSpPr>
          <p:cNvPr id="172" name="Google Shape;172;p25"/>
          <p:cNvCxnSpPr/>
          <p:nvPr/>
        </p:nvCxnSpPr>
        <p:spPr>
          <a:xfrm flipH="1">
            <a:off x="8083575" y="1059575"/>
            <a:ext cx="5100" cy="1375500"/>
          </a:xfrm>
          <a:prstGeom prst="straightConnector1">
            <a:avLst/>
          </a:prstGeom>
          <a:noFill/>
          <a:ln cap="flat" cmpd="sng" w="28575">
            <a:solidFill>
              <a:srgbClr val="0000FF"/>
            </a:solidFill>
            <a:prstDash val="solid"/>
            <a:round/>
            <a:headEnd len="med" w="med" type="none"/>
            <a:tailEnd len="med" w="med" type="none"/>
          </a:ln>
        </p:spPr>
      </p:cxnSp>
      <p:cxnSp>
        <p:nvCxnSpPr>
          <p:cNvPr id="173" name="Google Shape;173;p25"/>
          <p:cNvCxnSpPr/>
          <p:nvPr/>
        </p:nvCxnSpPr>
        <p:spPr>
          <a:xfrm rot="10800000">
            <a:off x="6217275" y="2428025"/>
            <a:ext cx="1880400" cy="6900"/>
          </a:xfrm>
          <a:prstGeom prst="straightConnector1">
            <a:avLst/>
          </a:prstGeom>
          <a:noFill/>
          <a:ln cap="flat" cmpd="sng" w="28575">
            <a:solidFill>
              <a:srgbClr val="0000FF"/>
            </a:solidFill>
            <a:prstDash val="solid"/>
            <a:round/>
            <a:headEnd len="med" w="med" type="none"/>
            <a:tailEnd len="med" w="med" type="none"/>
          </a:ln>
        </p:spPr>
      </p:cxnSp>
      <p:cxnSp>
        <p:nvCxnSpPr>
          <p:cNvPr id="174" name="Google Shape;174;p25"/>
          <p:cNvCxnSpPr/>
          <p:nvPr/>
        </p:nvCxnSpPr>
        <p:spPr>
          <a:xfrm flipH="1">
            <a:off x="6189150" y="1263075"/>
            <a:ext cx="6900" cy="2827800"/>
          </a:xfrm>
          <a:prstGeom prst="straightConnector1">
            <a:avLst/>
          </a:prstGeom>
          <a:noFill/>
          <a:ln cap="flat" cmpd="sng" w="28575">
            <a:solidFill>
              <a:srgbClr val="0000FF"/>
            </a:solidFill>
            <a:prstDash val="solid"/>
            <a:round/>
            <a:headEnd len="med" w="med" type="none"/>
            <a:tailEnd len="med" w="med" type="none"/>
          </a:ln>
        </p:spPr>
      </p:cxnSp>
      <p:cxnSp>
        <p:nvCxnSpPr>
          <p:cNvPr id="175" name="Google Shape;175;p25"/>
          <p:cNvCxnSpPr/>
          <p:nvPr/>
        </p:nvCxnSpPr>
        <p:spPr>
          <a:xfrm flipH="1">
            <a:off x="6189150" y="1263075"/>
            <a:ext cx="6900" cy="2827800"/>
          </a:xfrm>
          <a:prstGeom prst="straightConnector1">
            <a:avLst/>
          </a:prstGeom>
          <a:noFill/>
          <a:ln cap="flat" cmpd="sng" w="28575">
            <a:solidFill>
              <a:srgbClr val="9900FF"/>
            </a:solidFill>
            <a:prstDash val="solid"/>
            <a:round/>
            <a:headEnd len="med" w="med" type="none"/>
            <a:tailEnd len="med" w="med" type="none"/>
          </a:ln>
        </p:spPr>
      </p:cxnSp>
      <p:cxnSp>
        <p:nvCxnSpPr>
          <p:cNvPr id="176" name="Google Shape;176;p25"/>
          <p:cNvCxnSpPr/>
          <p:nvPr/>
        </p:nvCxnSpPr>
        <p:spPr>
          <a:xfrm flipH="1" rot="10800000">
            <a:off x="6210100" y="2343725"/>
            <a:ext cx="2224500" cy="91200"/>
          </a:xfrm>
          <a:prstGeom prst="straightConnector1">
            <a:avLst/>
          </a:prstGeom>
          <a:noFill/>
          <a:ln cap="flat" cmpd="sng" w="28575">
            <a:solidFill>
              <a:srgbClr val="9900FF"/>
            </a:solidFill>
            <a:prstDash val="solid"/>
            <a:round/>
            <a:headEnd len="med" w="med" type="none"/>
            <a:tailEnd len="med" w="med" type="none"/>
          </a:ln>
        </p:spPr>
      </p:cxnSp>
      <p:cxnSp>
        <p:nvCxnSpPr>
          <p:cNvPr id="177" name="Google Shape;177;p25"/>
          <p:cNvCxnSpPr/>
          <p:nvPr/>
        </p:nvCxnSpPr>
        <p:spPr>
          <a:xfrm flipH="1" rot="10800000">
            <a:off x="6186488" y="3284075"/>
            <a:ext cx="2224500" cy="91200"/>
          </a:xfrm>
          <a:prstGeom prst="straightConnector1">
            <a:avLst/>
          </a:prstGeom>
          <a:noFill/>
          <a:ln cap="flat" cmpd="sng" w="28575">
            <a:solidFill>
              <a:srgbClr val="9900FF"/>
            </a:solidFill>
            <a:prstDash val="solid"/>
            <a:round/>
            <a:headEnd len="med" w="med" type="none"/>
            <a:tailEnd len="med" w="med" type="none"/>
          </a:ln>
        </p:spPr>
      </p:cxnSp>
      <p:cxnSp>
        <p:nvCxnSpPr>
          <p:cNvPr id="178" name="Google Shape;178;p25"/>
          <p:cNvCxnSpPr/>
          <p:nvPr/>
        </p:nvCxnSpPr>
        <p:spPr>
          <a:xfrm rot="10800000">
            <a:off x="8427600" y="1277150"/>
            <a:ext cx="6900" cy="2771700"/>
          </a:xfrm>
          <a:prstGeom prst="straightConnector1">
            <a:avLst/>
          </a:prstGeom>
          <a:noFill/>
          <a:ln cap="flat" cmpd="sng" w="28575">
            <a:solidFill>
              <a:srgbClr val="9900FF"/>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7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7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7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7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7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6"/>
          <p:cNvPicPr preferRelativeResize="0"/>
          <p:nvPr/>
        </p:nvPicPr>
        <p:blipFill rotWithShape="1">
          <a:blip r:embed="rId3">
            <a:alphaModFix/>
          </a:blip>
          <a:srcRect b="6406" l="4523" r="3548" t="4125"/>
          <a:stretch/>
        </p:blipFill>
        <p:spPr>
          <a:xfrm>
            <a:off x="4437325" y="331175"/>
            <a:ext cx="4231798" cy="4660224"/>
          </a:xfrm>
          <a:prstGeom prst="rect">
            <a:avLst/>
          </a:prstGeom>
          <a:noFill/>
          <a:ln>
            <a:noFill/>
          </a:ln>
        </p:spPr>
      </p:pic>
      <p:sp>
        <p:nvSpPr>
          <p:cNvPr id="184" name="Google Shape;184;p26"/>
          <p:cNvSpPr txBox="1"/>
          <p:nvPr>
            <p:ph type="title"/>
          </p:nvPr>
        </p:nvSpPr>
        <p:spPr>
          <a:xfrm>
            <a:off x="713225" y="445025"/>
            <a:ext cx="52791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Transistor Sizings</a:t>
            </a:r>
            <a:endParaRPr b="1"/>
          </a:p>
        </p:txBody>
      </p:sp>
      <p:sp>
        <p:nvSpPr>
          <p:cNvPr id="185" name="Google Shape;185;p26"/>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pic>
        <p:nvPicPr>
          <p:cNvPr id="186" name="Google Shape;186;p26"/>
          <p:cNvPicPr preferRelativeResize="0"/>
          <p:nvPr/>
        </p:nvPicPr>
        <p:blipFill rotWithShape="1">
          <a:blip r:embed="rId4">
            <a:alphaModFix/>
          </a:blip>
          <a:srcRect b="5934" l="5131" r="3244" t="3049"/>
          <a:stretch/>
        </p:blipFill>
        <p:spPr>
          <a:xfrm>
            <a:off x="399094" y="2855638"/>
            <a:ext cx="2936100" cy="1731975"/>
          </a:xfrm>
          <a:prstGeom prst="rect">
            <a:avLst/>
          </a:prstGeom>
          <a:noFill/>
          <a:ln>
            <a:noFill/>
          </a:ln>
        </p:spPr>
      </p:pic>
      <p:sp>
        <p:nvSpPr>
          <p:cNvPr id="187" name="Google Shape;187;p26"/>
          <p:cNvSpPr txBox="1"/>
          <p:nvPr>
            <p:ph idx="1" type="body"/>
          </p:nvPr>
        </p:nvSpPr>
        <p:spPr>
          <a:xfrm>
            <a:off x="713250" y="1272925"/>
            <a:ext cx="5023800" cy="3295800"/>
          </a:xfrm>
          <a:prstGeom prst="rect">
            <a:avLst/>
          </a:prstGeom>
        </p:spPr>
        <p:txBody>
          <a:bodyPr anchorCtr="0" anchor="t" bIns="45700" lIns="91425" spcFirstLastPara="1" rIns="91425" wrap="square" tIns="45700">
            <a:noAutofit/>
          </a:bodyPr>
          <a:lstStyle/>
          <a:p>
            <a:pPr indent="-273050" lvl="0" marL="342900" rtl="0" algn="l">
              <a:lnSpc>
                <a:spcPct val="115000"/>
              </a:lnSpc>
              <a:spcBef>
                <a:spcPts val="480"/>
              </a:spcBef>
              <a:spcAft>
                <a:spcPts val="0"/>
              </a:spcAft>
              <a:buSzPts val="1300"/>
              <a:buFont typeface="Arial"/>
              <a:buChar char="▪"/>
            </a:pPr>
            <a:r>
              <a:rPr lang="en" sz="1300"/>
              <a:t>6T SRAM Cells</a:t>
            </a:r>
            <a:endParaRPr sz="1300"/>
          </a:p>
          <a:p>
            <a:pPr indent="-254000" lvl="1" marL="742950" rtl="0" algn="l">
              <a:lnSpc>
                <a:spcPct val="115000"/>
              </a:lnSpc>
              <a:spcBef>
                <a:spcPts val="360"/>
              </a:spcBef>
              <a:spcAft>
                <a:spcPts val="0"/>
              </a:spcAft>
              <a:buSzPts val="1300"/>
              <a:buFont typeface="Arial"/>
              <a:buChar char="▪"/>
            </a:pPr>
            <a:r>
              <a:rPr lang="en" sz="1300"/>
              <a:t>Standard 90nm NMOS, 180nm PMOS</a:t>
            </a:r>
            <a:endParaRPr sz="1300"/>
          </a:p>
          <a:p>
            <a:pPr indent="-254000" lvl="1" marL="742950" rtl="0" algn="l">
              <a:lnSpc>
                <a:spcPct val="115000"/>
              </a:lnSpc>
              <a:spcBef>
                <a:spcPts val="360"/>
              </a:spcBef>
              <a:spcAft>
                <a:spcPts val="0"/>
              </a:spcAft>
              <a:buSzPts val="1300"/>
              <a:buFont typeface="Arial"/>
              <a:buChar char="▪"/>
            </a:pPr>
            <a:r>
              <a:rPr lang="en" sz="1300"/>
              <a:t>Access NMOS a bit stronger (120nm)</a:t>
            </a:r>
            <a:endParaRPr sz="1300"/>
          </a:p>
          <a:p>
            <a:pPr indent="-273050" lvl="0" marL="342900" rtl="0" algn="l">
              <a:lnSpc>
                <a:spcPct val="115000"/>
              </a:lnSpc>
              <a:spcBef>
                <a:spcPts val="480"/>
              </a:spcBef>
              <a:spcAft>
                <a:spcPts val="0"/>
              </a:spcAft>
              <a:buSzPts val="1300"/>
              <a:buFont typeface="Arial"/>
              <a:buChar char="▪"/>
            </a:pPr>
            <a:r>
              <a:rPr lang="en" sz="1300"/>
              <a:t>Sense Amplifier</a:t>
            </a:r>
            <a:endParaRPr sz="1300"/>
          </a:p>
          <a:p>
            <a:pPr indent="-254000" lvl="1" marL="742950" rtl="0" algn="l">
              <a:lnSpc>
                <a:spcPct val="115000"/>
              </a:lnSpc>
              <a:spcBef>
                <a:spcPts val="360"/>
              </a:spcBef>
              <a:spcAft>
                <a:spcPts val="0"/>
              </a:spcAft>
              <a:buSzPts val="1300"/>
              <a:buFont typeface="Arial"/>
              <a:buChar char="▪"/>
            </a:pPr>
            <a:r>
              <a:rPr lang="en" sz="1300"/>
              <a:t>Bit Line PMOS: increase based on bit line load</a:t>
            </a:r>
            <a:endParaRPr sz="1300"/>
          </a:p>
        </p:txBody>
      </p:sp>
      <p:sp>
        <p:nvSpPr>
          <p:cNvPr id="188" name="Google Shape;188;p26"/>
          <p:cNvSpPr/>
          <p:nvPr/>
        </p:nvSpPr>
        <p:spPr>
          <a:xfrm>
            <a:off x="4791800" y="514650"/>
            <a:ext cx="418200" cy="4683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6"/>
          <p:cNvSpPr/>
          <p:nvPr/>
        </p:nvSpPr>
        <p:spPr>
          <a:xfrm>
            <a:off x="7868025" y="526250"/>
            <a:ext cx="418200" cy="4683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6"/>
          <p:cNvSpPr/>
          <p:nvPr/>
        </p:nvSpPr>
        <p:spPr>
          <a:xfrm>
            <a:off x="315850" y="2840375"/>
            <a:ext cx="3187800" cy="18192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7"/>
          <p:cNvSpPr txBox="1"/>
          <p:nvPr>
            <p:ph type="title"/>
          </p:nvPr>
        </p:nvSpPr>
        <p:spPr>
          <a:xfrm>
            <a:off x="713225" y="445025"/>
            <a:ext cx="52791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Transistor Sizings</a:t>
            </a:r>
            <a:endParaRPr b="1"/>
          </a:p>
        </p:txBody>
      </p:sp>
      <p:sp>
        <p:nvSpPr>
          <p:cNvPr id="196" name="Google Shape;196;p27"/>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pic>
        <p:nvPicPr>
          <p:cNvPr id="197" name="Google Shape;197;p27"/>
          <p:cNvPicPr preferRelativeResize="0"/>
          <p:nvPr/>
        </p:nvPicPr>
        <p:blipFill rotWithShape="1">
          <a:blip r:embed="rId3">
            <a:alphaModFix/>
          </a:blip>
          <a:srcRect b="7230" l="7629" r="3356" t="3842"/>
          <a:stretch/>
        </p:blipFill>
        <p:spPr>
          <a:xfrm>
            <a:off x="5513000" y="2124125"/>
            <a:ext cx="3523051" cy="2380976"/>
          </a:xfrm>
          <a:prstGeom prst="rect">
            <a:avLst/>
          </a:prstGeom>
          <a:noFill/>
          <a:ln>
            <a:noFill/>
          </a:ln>
        </p:spPr>
      </p:pic>
      <p:sp>
        <p:nvSpPr>
          <p:cNvPr id="198" name="Google Shape;198;p27"/>
          <p:cNvSpPr txBox="1"/>
          <p:nvPr>
            <p:ph idx="1" type="body"/>
          </p:nvPr>
        </p:nvSpPr>
        <p:spPr>
          <a:xfrm>
            <a:off x="713250" y="1272925"/>
            <a:ext cx="5023800" cy="3295800"/>
          </a:xfrm>
          <a:prstGeom prst="rect">
            <a:avLst/>
          </a:prstGeom>
        </p:spPr>
        <p:txBody>
          <a:bodyPr anchorCtr="0" anchor="t" bIns="45700" lIns="91425" spcFirstLastPara="1" rIns="91425" wrap="square" tIns="45700">
            <a:noAutofit/>
          </a:bodyPr>
          <a:lstStyle/>
          <a:p>
            <a:pPr indent="-279400" lvl="0" marL="342900" rtl="0" algn="l">
              <a:lnSpc>
                <a:spcPct val="150000"/>
              </a:lnSpc>
              <a:spcBef>
                <a:spcPts val="360"/>
              </a:spcBef>
              <a:spcAft>
                <a:spcPts val="0"/>
              </a:spcAft>
              <a:buSzPts val="1400"/>
              <a:buFont typeface="Arial"/>
              <a:buChar char="▪"/>
            </a:pPr>
            <a:r>
              <a:rPr lang="en" sz="1400"/>
              <a:t>Sense Amp </a:t>
            </a:r>
            <a:r>
              <a:rPr lang="en" sz="1400"/>
              <a:t>Inverters</a:t>
            </a:r>
            <a:endParaRPr sz="1400"/>
          </a:p>
          <a:p>
            <a:pPr indent="-260350" lvl="1" marL="742950" rtl="0" algn="l">
              <a:lnSpc>
                <a:spcPct val="150000"/>
              </a:lnSpc>
              <a:spcBef>
                <a:spcPts val="360"/>
              </a:spcBef>
              <a:spcAft>
                <a:spcPts val="0"/>
              </a:spcAft>
              <a:buSzPts val="1400"/>
              <a:buFont typeface="Arial"/>
              <a:buChar char="▪"/>
            </a:pPr>
            <a:r>
              <a:rPr lang="en" sz="1400"/>
              <a:t>Want to bias towards pulling down</a:t>
            </a:r>
            <a:endParaRPr sz="1400"/>
          </a:p>
          <a:p>
            <a:pPr indent="-260350" lvl="1" marL="742950" rtl="0" algn="l">
              <a:lnSpc>
                <a:spcPct val="150000"/>
              </a:lnSpc>
              <a:spcBef>
                <a:spcPts val="360"/>
              </a:spcBef>
              <a:spcAft>
                <a:spcPts val="0"/>
              </a:spcAft>
              <a:buSzPts val="1400"/>
              <a:buFont typeface="Arial"/>
              <a:buChar char="▪"/>
            </a:pPr>
            <a:r>
              <a:rPr lang="en" sz="1400"/>
              <a:t>180nm NMOS, 180nm PMOS</a:t>
            </a:r>
            <a:endParaRPr sz="1400"/>
          </a:p>
          <a:p>
            <a:pPr indent="-279400" lvl="0" marL="342900" rtl="0" algn="l">
              <a:lnSpc>
                <a:spcPct val="150000"/>
              </a:lnSpc>
              <a:spcBef>
                <a:spcPts val="480"/>
              </a:spcBef>
              <a:spcAft>
                <a:spcPts val="0"/>
              </a:spcAft>
              <a:buSzPts val="1400"/>
              <a:buFont typeface="Arial"/>
              <a:buChar char="▪"/>
            </a:pPr>
            <a:r>
              <a:rPr lang="en" sz="1400"/>
              <a:t>Buffer</a:t>
            </a:r>
            <a:endParaRPr sz="1400"/>
          </a:p>
          <a:p>
            <a:pPr indent="-260350" lvl="1" marL="742950" rtl="0" algn="l">
              <a:lnSpc>
                <a:spcPct val="150000"/>
              </a:lnSpc>
              <a:spcBef>
                <a:spcPts val="360"/>
              </a:spcBef>
              <a:spcAft>
                <a:spcPts val="0"/>
              </a:spcAft>
              <a:buSzPts val="1400"/>
              <a:buFont typeface="Arial"/>
              <a:buChar char="▪"/>
            </a:pPr>
            <a:r>
              <a:rPr lang="en" sz="1400"/>
              <a:t>First inverter 180nm NMOS, 360nm PMOS</a:t>
            </a:r>
            <a:endParaRPr sz="1400"/>
          </a:p>
          <a:p>
            <a:pPr indent="-260350" lvl="1" marL="742950" rtl="0" algn="l">
              <a:lnSpc>
                <a:spcPct val="150000"/>
              </a:lnSpc>
              <a:spcBef>
                <a:spcPts val="360"/>
              </a:spcBef>
              <a:spcAft>
                <a:spcPts val="0"/>
              </a:spcAft>
              <a:buSzPts val="1400"/>
              <a:buFont typeface="Arial"/>
              <a:buChar char="▪"/>
            </a:pPr>
            <a:r>
              <a:rPr lang="en" sz="1400"/>
              <a:t>Second inverter size based on output load</a:t>
            </a:r>
            <a:endParaRPr sz="1400"/>
          </a:p>
        </p:txBody>
      </p:sp>
      <p:pic>
        <p:nvPicPr>
          <p:cNvPr id="199" name="Google Shape;199;p27"/>
          <p:cNvPicPr preferRelativeResize="0"/>
          <p:nvPr/>
        </p:nvPicPr>
        <p:blipFill>
          <a:blip r:embed="rId4">
            <a:alphaModFix/>
          </a:blip>
          <a:stretch>
            <a:fillRect/>
          </a:stretch>
        </p:blipFill>
        <p:spPr>
          <a:xfrm>
            <a:off x="6366750" y="256725"/>
            <a:ext cx="1815542" cy="1819325"/>
          </a:xfrm>
          <a:prstGeom prst="rect">
            <a:avLst/>
          </a:prstGeom>
          <a:noFill/>
          <a:ln>
            <a:noFill/>
          </a:ln>
        </p:spPr>
      </p:pic>
      <p:pic>
        <p:nvPicPr>
          <p:cNvPr id="200" name="Google Shape;200;p27"/>
          <p:cNvPicPr preferRelativeResize="0"/>
          <p:nvPr/>
        </p:nvPicPr>
        <p:blipFill rotWithShape="1">
          <a:blip r:embed="rId5">
            <a:alphaModFix/>
          </a:blip>
          <a:srcRect b="6406" l="4523" r="3548" t="4125"/>
          <a:stretch/>
        </p:blipFill>
        <p:spPr>
          <a:xfrm>
            <a:off x="4562799" y="256724"/>
            <a:ext cx="1901174" cy="2093650"/>
          </a:xfrm>
          <a:prstGeom prst="rect">
            <a:avLst/>
          </a:prstGeom>
          <a:noFill/>
          <a:ln>
            <a:noFill/>
          </a:ln>
        </p:spPr>
      </p:pic>
      <p:sp>
        <p:nvSpPr>
          <p:cNvPr id="201" name="Google Shape;201;p27"/>
          <p:cNvSpPr/>
          <p:nvPr/>
        </p:nvSpPr>
        <p:spPr>
          <a:xfrm>
            <a:off x="5186975" y="639250"/>
            <a:ext cx="637500" cy="13833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27"/>
          <p:cNvSpPr/>
          <p:nvPr/>
        </p:nvSpPr>
        <p:spPr>
          <a:xfrm>
            <a:off x="4621375" y="1816275"/>
            <a:ext cx="418200" cy="4683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27"/>
          <p:cNvSpPr/>
          <p:nvPr/>
        </p:nvSpPr>
        <p:spPr>
          <a:xfrm>
            <a:off x="5971875" y="1841175"/>
            <a:ext cx="418200" cy="4683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0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txBox="1"/>
          <p:nvPr>
            <p:ph idx="1" type="subTitle"/>
          </p:nvPr>
        </p:nvSpPr>
        <p:spPr>
          <a:xfrm>
            <a:off x="803750" y="2693525"/>
            <a:ext cx="7365300" cy="5580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 sz="3600"/>
              <a:t>Examples: BCAM Search, Logic Operations</a:t>
            </a:r>
            <a:endParaRPr b="1" sz="3600"/>
          </a:p>
        </p:txBody>
      </p:sp>
      <p:sp>
        <p:nvSpPr>
          <p:cNvPr id="209" name="Google Shape;209;p28"/>
          <p:cNvSpPr txBox="1"/>
          <p:nvPr>
            <p:ph type="title"/>
          </p:nvPr>
        </p:nvSpPr>
        <p:spPr>
          <a:xfrm>
            <a:off x="803750" y="2040496"/>
            <a:ext cx="4087500" cy="673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03</a:t>
            </a:r>
            <a:endParaRPr/>
          </a:p>
        </p:txBody>
      </p:sp>
      <p:sp>
        <p:nvSpPr>
          <p:cNvPr id="210" name="Google Shape;210;p28"/>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29" title="Scrap Paper 2026-50.jpg"/>
          <p:cNvPicPr preferRelativeResize="0"/>
          <p:nvPr/>
        </p:nvPicPr>
        <p:blipFill>
          <a:blip r:embed="rId3">
            <a:alphaModFix/>
          </a:blip>
          <a:stretch>
            <a:fillRect/>
          </a:stretch>
        </p:blipFill>
        <p:spPr>
          <a:xfrm>
            <a:off x="1390663" y="228600"/>
            <a:ext cx="6362675" cy="4914898"/>
          </a:xfrm>
          <a:prstGeom prst="rect">
            <a:avLst/>
          </a:prstGeom>
          <a:noFill/>
          <a:ln>
            <a:noFill/>
          </a:ln>
        </p:spPr>
      </p:pic>
      <p:sp>
        <p:nvSpPr>
          <p:cNvPr id="216" name="Google Shape;216;p29"/>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
        <p:nvSpPr>
          <p:cNvPr id="217" name="Google Shape;217;p29"/>
          <p:cNvSpPr txBox="1"/>
          <p:nvPr/>
        </p:nvSpPr>
        <p:spPr>
          <a:xfrm>
            <a:off x="0" y="3665950"/>
            <a:ext cx="1926900" cy="1477500"/>
          </a:xfrm>
          <a:prstGeom prst="rect">
            <a:avLst/>
          </a:prstGeom>
          <a:noFill/>
          <a:ln>
            <a:noFill/>
          </a:ln>
        </p:spPr>
        <p:txBody>
          <a:bodyPr anchorCtr="0" anchor="t" bIns="91425" lIns="91425" spcFirstLastPara="1" rIns="91425" wrap="square" tIns="91425">
            <a:spAutoFit/>
          </a:bodyPr>
          <a:lstStyle/>
          <a:p>
            <a:pPr indent="-304800" lvl="0" marL="457200" rtl="0" algn="l">
              <a:spcBef>
                <a:spcPts val="480"/>
              </a:spcBef>
              <a:spcAft>
                <a:spcPts val="0"/>
              </a:spcAft>
              <a:buClr>
                <a:srgbClr val="CCCCCC"/>
              </a:buClr>
              <a:buSzPts val="1200"/>
              <a:buAutoNum type="arabicPeriod"/>
            </a:pPr>
            <a:r>
              <a:rPr lang="en" sz="1200">
                <a:solidFill>
                  <a:srgbClr val="CCCCCC"/>
                </a:solidFill>
              </a:rPr>
              <a:t>SRAM Read</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SRAM Write</a:t>
            </a:r>
            <a:endParaRPr sz="1200">
              <a:solidFill>
                <a:srgbClr val="CCCCCC"/>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BCAM Search</a:t>
            </a:r>
            <a:endParaRPr sz="1200">
              <a:solidFill>
                <a:schemeClr val="dk1"/>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BCAM Write</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TCAM Search</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TCAM Write</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Logic Operations</a:t>
            </a:r>
            <a:endParaRPr sz="1200">
              <a:solidFill>
                <a:srgbClr val="CCCCCC"/>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30" title="Scrap Paper 2026-51.jpg"/>
          <p:cNvPicPr preferRelativeResize="0"/>
          <p:nvPr/>
        </p:nvPicPr>
        <p:blipFill>
          <a:blip r:embed="rId3">
            <a:alphaModFix/>
          </a:blip>
          <a:stretch>
            <a:fillRect/>
          </a:stretch>
        </p:blipFill>
        <p:spPr>
          <a:xfrm>
            <a:off x="1390688" y="228600"/>
            <a:ext cx="6362634" cy="4914898"/>
          </a:xfrm>
          <a:prstGeom prst="rect">
            <a:avLst/>
          </a:prstGeom>
          <a:noFill/>
          <a:ln>
            <a:noFill/>
          </a:ln>
        </p:spPr>
      </p:pic>
      <p:sp>
        <p:nvSpPr>
          <p:cNvPr id="223" name="Google Shape;223;p30"/>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
        <p:nvSpPr>
          <p:cNvPr id="224" name="Google Shape;224;p30"/>
          <p:cNvSpPr txBox="1"/>
          <p:nvPr/>
        </p:nvSpPr>
        <p:spPr>
          <a:xfrm>
            <a:off x="0" y="3665950"/>
            <a:ext cx="1926900" cy="1477500"/>
          </a:xfrm>
          <a:prstGeom prst="rect">
            <a:avLst/>
          </a:prstGeom>
          <a:noFill/>
          <a:ln>
            <a:noFill/>
          </a:ln>
        </p:spPr>
        <p:txBody>
          <a:bodyPr anchorCtr="0" anchor="t" bIns="91425" lIns="91425" spcFirstLastPara="1" rIns="91425" wrap="square" tIns="91425">
            <a:spAutoFit/>
          </a:bodyPr>
          <a:lstStyle/>
          <a:p>
            <a:pPr indent="-304800" lvl="0" marL="457200" rtl="0" algn="l">
              <a:spcBef>
                <a:spcPts val="480"/>
              </a:spcBef>
              <a:spcAft>
                <a:spcPts val="0"/>
              </a:spcAft>
              <a:buClr>
                <a:srgbClr val="CCCCCC"/>
              </a:buClr>
              <a:buSzPts val="1200"/>
              <a:buAutoNum type="arabicPeriod"/>
            </a:pPr>
            <a:r>
              <a:rPr lang="en" sz="1200">
                <a:solidFill>
                  <a:srgbClr val="CCCCCC"/>
                </a:solidFill>
              </a:rPr>
              <a:t>SRAM Read</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SRAM Write</a:t>
            </a:r>
            <a:endParaRPr sz="1200">
              <a:solidFill>
                <a:srgbClr val="CCCCCC"/>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BCAM Search</a:t>
            </a:r>
            <a:endParaRPr sz="1200">
              <a:solidFill>
                <a:schemeClr val="dk1"/>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BCAM Write</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TCAM Search</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TCAM Write</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Logic Operations</a:t>
            </a:r>
            <a:endParaRPr sz="1200">
              <a:solidFill>
                <a:srgbClr val="CCCCCC"/>
              </a:solidFill>
            </a:endParaRPr>
          </a:p>
        </p:txBody>
      </p:sp>
      <p:sp>
        <p:nvSpPr>
          <p:cNvPr id="225" name="Google Shape;225;p30"/>
          <p:cNvSpPr txBox="1"/>
          <p:nvPr/>
        </p:nvSpPr>
        <p:spPr>
          <a:xfrm>
            <a:off x="3891050" y="4826500"/>
            <a:ext cx="21723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Load data, precharge bitlines</a:t>
            </a:r>
            <a:endParaRPr sz="12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31" title="Scrap Paper 2026-52.jpg"/>
          <p:cNvPicPr preferRelativeResize="0"/>
          <p:nvPr/>
        </p:nvPicPr>
        <p:blipFill>
          <a:blip r:embed="rId3">
            <a:alphaModFix/>
          </a:blip>
          <a:stretch>
            <a:fillRect/>
          </a:stretch>
        </p:blipFill>
        <p:spPr>
          <a:xfrm>
            <a:off x="1390688" y="228600"/>
            <a:ext cx="6362634" cy="4914898"/>
          </a:xfrm>
          <a:prstGeom prst="rect">
            <a:avLst/>
          </a:prstGeom>
          <a:noFill/>
          <a:ln>
            <a:noFill/>
          </a:ln>
        </p:spPr>
      </p:pic>
      <p:sp>
        <p:nvSpPr>
          <p:cNvPr id="231" name="Google Shape;231;p3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
        <p:nvSpPr>
          <p:cNvPr id="232" name="Google Shape;232;p31"/>
          <p:cNvSpPr txBox="1"/>
          <p:nvPr/>
        </p:nvSpPr>
        <p:spPr>
          <a:xfrm>
            <a:off x="0" y="3665950"/>
            <a:ext cx="1926900" cy="1477500"/>
          </a:xfrm>
          <a:prstGeom prst="rect">
            <a:avLst/>
          </a:prstGeom>
          <a:noFill/>
          <a:ln>
            <a:noFill/>
          </a:ln>
        </p:spPr>
        <p:txBody>
          <a:bodyPr anchorCtr="0" anchor="t" bIns="91425" lIns="91425" spcFirstLastPara="1" rIns="91425" wrap="square" tIns="91425">
            <a:spAutoFit/>
          </a:bodyPr>
          <a:lstStyle/>
          <a:p>
            <a:pPr indent="-304800" lvl="0" marL="457200" rtl="0" algn="l">
              <a:spcBef>
                <a:spcPts val="480"/>
              </a:spcBef>
              <a:spcAft>
                <a:spcPts val="0"/>
              </a:spcAft>
              <a:buClr>
                <a:srgbClr val="CCCCCC"/>
              </a:buClr>
              <a:buSzPts val="1200"/>
              <a:buAutoNum type="arabicPeriod"/>
            </a:pPr>
            <a:r>
              <a:rPr lang="en" sz="1200">
                <a:solidFill>
                  <a:srgbClr val="CCCCCC"/>
                </a:solidFill>
              </a:rPr>
              <a:t>SRAM Read</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SRAM Write</a:t>
            </a:r>
            <a:endParaRPr sz="1200">
              <a:solidFill>
                <a:srgbClr val="CCCCCC"/>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BCAM Search</a:t>
            </a:r>
            <a:endParaRPr sz="1200">
              <a:solidFill>
                <a:schemeClr val="dk1"/>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BCAM Write</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TCAM Search</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TCAM Write</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Logic Operations</a:t>
            </a:r>
            <a:endParaRPr sz="1200">
              <a:solidFill>
                <a:srgbClr val="CCCCCC"/>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32" title="Scrap Paper 2026-53.jpg"/>
          <p:cNvPicPr preferRelativeResize="0"/>
          <p:nvPr/>
        </p:nvPicPr>
        <p:blipFill>
          <a:blip r:embed="rId3">
            <a:alphaModFix/>
          </a:blip>
          <a:stretch>
            <a:fillRect/>
          </a:stretch>
        </p:blipFill>
        <p:spPr>
          <a:xfrm>
            <a:off x="1390675" y="228600"/>
            <a:ext cx="6362660" cy="4914898"/>
          </a:xfrm>
          <a:prstGeom prst="rect">
            <a:avLst/>
          </a:prstGeom>
          <a:noFill/>
          <a:ln>
            <a:noFill/>
          </a:ln>
        </p:spPr>
      </p:pic>
      <p:sp>
        <p:nvSpPr>
          <p:cNvPr id="238" name="Google Shape;238;p32"/>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
        <p:nvSpPr>
          <p:cNvPr id="239" name="Google Shape;239;p32"/>
          <p:cNvSpPr txBox="1"/>
          <p:nvPr/>
        </p:nvSpPr>
        <p:spPr>
          <a:xfrm>
            <a:off x="0" y="3665950"/>
            <a:ext cx="1926900" cy="1477500"/>
          </a:xfrm>
          <a:prstGeom prst="rect">
            <a:avLst/>
          </a:prstGeom>
          <a:noFill/>
          <a:ln>
            <a:noFill/>
          </a:ln>
        </p:spPr>
        <p:txBody>
          <a:bodyPr anchorCtr="0" anchor="t" bIns="91425" lIns="91425" spcFirstLastPara="1" rIns="91425" wrap="square" tIns="91425">
            <a:spAutoFit/>
          </a:bodyPr>
          <a:lstStyle/>
          <a:p>
            <a:pPr indent="-304800" lvl="0" marL="457200" rtl="0" algn="l">
              <a:spcBef>
                <a:spcPts val="480"/>
              </a:spcBef>
              <a:spcAft>
                <a:spcPts val="0"/>
              </a:spcAft>
              <a:buClr>
                <a:srgbClr val="CCCCCC"/>
              </a:buClr>
              <a:buSzPts val="1200"/>
              <a:buAutoNum type="arabicPeriod"/>
            </a:pPr>
            <a:r>
              <a:rPr lang="en" sz="1200">
                <a:solidFill>
                  <a:srgbClr val="CCCCCC"/>
                </a:solidFill>
              </a:rPr>
              <a:t>SRAM Read</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SRAM Write</a:t>
            </a:r>
            <a:endParaRPr sz="1200">
              <a:solidFill>
                <a:srgbClr val="CCCCCC"/>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BCAM Search</a:t>
            </a:r>
            <a:endParaRPr sz="1200">
              <a:solidFill>
                <a:schemeClr val="dk1"/>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BCAM Write</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TCAM Search</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TCAM Write</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Logic Operations</a:t>
            </a:r>
            <a:endParaRPr sz="1200">
              <a:solidFill>
                <a:srgbClr val="CCCCCC"/>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33" title="Scrap Paper 2026-54.jpg"/>
          <p:cNvPicPr preferRelativeResize="0"/>
          <p:nvPr/>
        </p:nvPicPr>
        <p:blipFill>
          <a:blip r:embed="rId3">
            <a:alphaModFix/>
          </a:blip>
          <a:stretch>
            <a:fillRect/>
          </a:stretch>
        </p:blipFill>
        <p:spPr>
          <a:xfrm>
            <a:off x="1390663" y="228600"/>
            <a:ext cx="6362665" cy="4914898"/>
          </a:xfrm>
          <a:prstGeom prst="rect">
            <a:avLst/>
          </a:prstGeom>
          <a:noFill/>
          <a:ln>
            <a:noFill/>
          </a:ln>
        </p:spPr>
      </p:pic>
      <p:sp>
        <p:nvSpPr>
          <p:cNvPr id="245" name="Google Shape;245;p33"/>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
        <p:nvSpPr>
          <p:cNvPr id="246" name="Google Shape;246;p33"/>
          <p:cNvSpPr txBox="1"/>
          <p:nvPr/>
        </p:nvSpPr>
        <p:spPr>
          <a:xfrm>
            <a:off x="0" y="3665950"/>
            <a:ext cx="1926900" cy="1477500"/>
          </a:xfrm>
          <a:prstGeom prst="rect">
            <a:avLst/>
          </a:prstGeom>
          <a:noFill/>
          <a:ln>
            <a:noFill/>
          </a:ln>
        </p:spPr>
        <p:txBody>
          <a:bodyPr anchorCtr="0" anchor="t" bIns="91425" lIns="91425" spcFirstLastPara="1" rIns="91425" wrap="square" tIns="91425">
            <a:spAutoFit/>
          </a:bodyPr>
          <a:lstStyle/>
          <a:p>
            <a:pPr indent="-304800" lvl="0" marL="457200" rtl="0" algn="l">
              <a:spcBef>
                <a:spcPts val="480"/>
              </a:spcBef>
              <a:spcAft>
                <a:spcPts val="0"/>
              </a:spcAft>
              <a:buClr>
                <a:srgbClr val="CCCCCC"/>
              </a:buClr>
              <a:buSzPts val="1200"/>
              <a:buAutoNum type="arabicPeriod"/>
            </a:pPr>
            <a:r>
              <a:rPr lang="en" sz="1200">
                <a:solidFill>
                  <a:srgbClr val="CCCCCC"/>
                </a:solidFill>
              </a:rPr>
              <a:t>SRAM Read</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SRAM Write</a:t>
            </a:r>
            <a:endParaRPr sz="1200">
              <a:solidFill>
                <a:srgbClr val="CCCCCC"/>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BCAM Search</a:t>
            </a:r>
            <a:endParaRPr sz="1200">
              <a:solidFill>
                <a:schemeClr val="dk1"/>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BCAM Write</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TCAM Search</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TCAM Write</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Logic Operations</a:t>
            </a:r>
            <a:endParaRPr sz="1200">
              <a:solidFill>
                <a:srgbClr val="CCCCCC"/>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4"/>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pic>
        <p:nvPicPr>
          <p:cNvPr id="252" name="Google Shape;252;p34" title="Scrap Paper 2026-54.jpg"/>
          <p:cNvPicPr preferRelativeResize="0"/>
          <p:nvPr/>
        </p:nvPicPr>
        <p:blipFill>
          <a:blip r:embed="rId3">
            <a:alphaModFix/>
          </a:blip>
          <a:stretch>
            <a:fillRect/>
          </a:stretch>
        </p:blipFill>
        <p:spPr>
          <a:xfrm>
            <a:off x="0" y="1587750"/>
            <a:ext cx="2793774" cy="2158073"/>
          </a:xfrm>
          <a:prstGeom prst="rect">
            <a:avLst/>
          </a:prstGeom>
          <a:noFill/>
          <a:ln>
            <a:noFill/>
          </a:ln>
        </p:spPr>
      </p:pic>
      <p:pic>
        <p:nvPicPr>
          <p:cNvPr id="253" name="Google Shape;253;p34" title="test_bcam_search.jpg"/>
          <p:cNvPicPr preferRelativeResize="0"/>
          <p:nvPr/>
        </p:nvPicPr>
        <p:blipFill>
          <a:blip r:embed="rId4">
            <a:alphaModFix/>
          </a:blip>
          <a:stretch>
            <a:fillRect/>
          </a:stretch>
        </p:blipFill>
        <p:spPr>
          <a:xfrm>
            <a:off x="2851125" y="821206"/>
            <a:ext cx="5763000" cy="4322244"/>
          </a:xfrm>
          <a:prstGeom prst="rect">
            <a:avLst/>
          </a:prstGeom>
          <a:noFill/>
          <a:ln>
            <a:noFill/>
          </a:ln>
        </p:spPr>
      </p:pic>
      <p:sp>
        <p:nvSpPr>
          <p:cNvPr id="254" name="Google Shape;254;p34"/>
          <p:cNvSpPr txBox="1"/>
          <p:nvPr/>
        </p:nvSpPr>
        <p:spPr>
          <a:xfrm>
            <a:off x="6224802" y="2637622"/>
            <a:ext cx="335400" cy="480000"/>
          </a:xfrm>
          <a:prstGeom prst="rect">
            <a:avLst/>
          </a:prstGeom>
          <a:noFill/>
          <a:ln>
            <a:noFill/>
          </a:ln>
        </p:spPr>
        <p:txBody>
          <a:bodyPr anchorCtr="0" anchor="t" bIns="89100" lIns="89100" spcFirstLastPara="1" rIns="89100" wrap="square" tIns="89100">
            <a:spAutoFit/>
          </a:bodyPr>
          <a:lstStyle/>
          <a:p>
            <a:pPr indent="0" lvl="0" marL="0" rtl="0" algn="l">
              <a:spcBef>
                <a:spcPts val="0"/>
              </a:spcBef>
              <a:spcAft>
                <a:spcPts val="0"/>
              </a:spcAft>
              <a:buNone/>
            </a:pPr>
            <a:r>
              <a:rPr b="1" lang="en" sz="1949">
                <a:solidFill>
                  <a:srgbClr val="FF0000"/>
                </a:solidFill>
              </a:rPr>
              <a:t>0</a:t>
            </a:r>
            <a:endParaRPr b="1" sz="1949">
              <a:solidFill>
                <a:srgbClr val="FF0000"/>
              </a:solidFill>
            </a:endParaRPr>
          </a:p>
        </p:txBody>
      </p:sp>
      <p:sp>
        <p:nvSpPr>
          <p:cNvPr id="255" name="Google Shape;255;p34"/>
          <p:cNvSpPr txBox="1"/>
          <p:nvPr/>
        </p:nvSpPr>
        <p:spPr>
          <a:xfrm>
            <a:off x="6224802" y="3117679"/>
            <a:ext cx="335400" cy="480000"/>
          </a:xfrm>
          <a:prstGeom prst="rect">
            <a:avLst/>
          </a:prstGeom>
          <a:noFill/>
          <a:ln>
            <a:noFill/>
          </a:ln>
        </p:spPr>
        <p:txBody>
          <a:bodyPr anchorCtr="0" anchor="t" bIns="89100" lIns="89100" spcFirstLastPara="1" rIns="89100" wrap="square" tIns="89100">
            <a:spAutoFit/>
          </a:bodyPr>
          <a:lstStyle/>
          <a:p>
            <a:pPr indent="0" lvl="0" marL="0" rtl="0" algn="l">
              <a:spcBef>
                <a:spcPts val="0"/>
              </a:spcBef>
              <a:spcAft>
                <a:spcPts val="0"/>
              </a:spcAft>
              <a:buNone/>
            </a:pPr>
            <a:r>
              <a:rPr b="1" lang="en" sz="1949">
                <a:solidFill>
                  <a:srgbClr val="FF0000"/>
                </a:solidFill>
              </a:rPr>
              <a:t>0</a:t>
            </a:r>
            <a:endParaRPr b="1" sz="1949">
              <a:solidFill>
                <a:srgbClr val="FF0000"/>
              </a:solidFill>
            </a:endParaRPr>
          </a:p>
        </p:txBody>
      </p:sp>
      <p:sp>
        <p:nvSpPr>
          <p:cNvPr id="256" name="Google Shape;256;p34"/>
          <p:cNvSpPr txBox="1"/>
          <p:nvPr/>
        </p:nvSpPr>
        <p:spPr>
          <a:xfrm>
            <a:off x="6224802" y="4155171"/>
            <a:ext cx="335400" cy="480000"/>
          </a:xfrm>
          <a:prstGeom prst="rect">
            <a:avLst/>
          </a:prstGeom>
          <a:noFill/>
          <a:ln>
            <a:noFill/>
          </a:ln>
        </p:spPr>
        <p:txBody>
          <a:bodyPr anchorCtr="0" anchor="t" bIns="89100" lIns="89100" spcFirstLastPara="1" rIns="89100" wrap="square" tIns="89100">
            <a:spAutoFit/>
          </a:bodyPr>
          <a:lstStyle/>
          <a:p>
            <a:pPr indent="0" lvl="0" marL="0" rtl="0" algn="l">
              <a:spcBef>
                <a:spcPts val="0"/>
              </a:spcBef>
              <a:spcAft>
                <a:spcPts val="0"/>
              </a:spcAft>
              <a:buNone/>
            </a:pPr>
            <a:r>
              <a:rPr b="1" lang="en" sz="1949">
                <a:solidFill>
                  <a:srgbClr val="FF0000"/>
                </a:solidFill>
              </a:rPr>
              <a:t>0</a:t>
            </a:r>
            <a:endParaRPr b="1" sz="1949">
              <a:solidFill>
                <a:srgbClr val="FF0000"/>
              </a:solidFill>
            </a:endParaRPr>
          </a:p>
        </p:txBody>
      </p:sp>
      <p:sp>
        <p:nvSpPr>
          <p:cNvPr id="257" name="Google Shape;257;p34"/>
          <p:cNvSpPr txBox="1"/>
          <p:nvPr/>
        </p:nvSpPr>
        <p:spPr>
          <a:xfrm>
            <a:off x="6224802" y="3597736"/>
            <a:ext cx="335400" cy="480000"/>
          </a:xfrm>
          <a:prstGeom prst="rect">
            <a:avLst/>
          </a:prstGeom>
          <a:noFill/>
          <a:ln>
            <a:noFill/>
          </a:ln>
        </p:spPr>
        <p:txBody>
          <a:bodyPr anchorCtr="0" anchor="t" bIns="89100" lIns="89100" spcFirstLastPara="1" rIns="89100" wrap="square" tIns="89100">
            <a:spAutoFit/>
          </a:bodyPr>
          <a:lstStyle/>
          <a:p>
            <a:pPr indent="0" lvl="0" marL="0" rtl="0" algn="l">
              <a:spcBef>
                <a:spcPts val="0"/>
              </a:spcBef>
              <a:spcAft>
                <a:spcPts val="0"/>
              </a:spcAft>
              <a:buNone/>
            </a:pPr>
            <a:r>
              <a:rPr b="1" lang="en" sz="1949">
                <a:solidFill>
                  <a:srgbClr val="FF0000"/>
                </a:solidFill>
              </a:rPr>
              <a:t>1</a:t>
            </a:r>
            <a:endParaRPr b="1" sz="1949">
              <a:solidFill>
                <a:srgbClr val="FF0000"/>
              </a:solidFill>
            </a:endParaRPr>
          </a:p>
        </p:txBody>
      </p:sp>
      <p:sp>
        <p:nvSpPr>
          <p:cNvPr id="258" name="Google Shape;258;p34"/>
          <p:cNvSpPr/>
          <p:nvPr/>
        </p:nvSpPr>
        <p:spPr>
          <a:xfrm>
            <a:off x="5954636" y="932596"/>
            <a:ext cx="698700" cy="3819900"/>
          </a:xfrm>
          <a:prstGeom prst="rect">
            <a:avLst/>
          </a:prstGeom>
          <a:noFill/>
          <a:ln cap="flat" cmpd="sng" w="27850">
            <a:solidFill>
              <a:srgbClr val="FF0000"/>
            </a:solidFill>
            <a:prstDash val="solid"/>
            <a:round/>
            <a:headEnd len="sm" w="sm" type="none"/>
            <a:tailEnd len="sm" w="sm" type="none"/>
          </a:ln>
        </p:spPr>
        <p:txBody>
          <a:bodyPr anchorCtr="0" anchor="ctr" bIns="89100" lIns="89100" spcFirstLastPara="1" rIns="89100" wrap="square" tIns="89100">
            <a:noAutofit/>
          </a:bodyPr>
          <a:lstStyle/>
          <a:p>
            <a:pPr indent="0" lvl="0" marL="0" rtl="0" algn="ctr">
              <a:spcBef>
                <a:spcPts val="0"/>
              </a:spcBef>
              <a:spcAft>
                <a:spcPts val="0"/>
              </a:spcAft>
              <a:buNone/>
            </a:pPr>
            <a:r>
              <a:t/>
            </a:r>
            <a:endParaRPr sz="1364"/>
          </a:p>
        </p:txBody>
      </p:sp>
      <p:sp>
        <p:nvSpPr>
          <p:cNvPr id="259" name="Google Shape;259;p34"/>
          <p:cNvSpPr txBox="1"/>
          <p:nvPr>
            <p:ph idx="4294967295" type="title"/>
          </p:nvPr>
        </p:nvSpPr>
        <p:spPr>
          <a:xfrm>
            <a:off x="713225" y="445025"/>
            <a:ext cx="52791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BCAM Search Simulation</a:t>
            </a:r>
            <a:endParaRPr b="1"/>
          </a:p>
        </p:txBody>
      </p:sp>
      <p:sp>
        <p:nvSpPr>
          <p:cNvPr id="260" name="Google Shape;260;p34"/>
          <p:cNvSpPr txBox="1"/>
          <p:nvPr/>
        </p:nvSpPr>
        <p:spPr>
          <a:xfrm>
            <a:off x="0" y="3665950"/>
            <a:ext cx="1926900" cy="1477500"/>
          </a:xfrm>
          <a:prstGeom prst="rect">
            <a:avLst/>
          </a:prstGeom>
          <a:noFill/>
          <a:ln>
            <a:noFill/>
          </a:ln>
        </p:spPr>
        <p:txBody>
          <a:bodyPr anchorCtr="0" anchor="t" bIns="91425" lIns="91425" spcFirstLastPara="1" rIns="91425" wrap="square" tIns="91425">
            <a:spAutoFit/>
          </a:bodyPr>
          <a:lstStyle/>
          <a:p>
            <a:pPr indent="-304800" lvl="0" marL="457200" rtl="0" algn="l">
              <a:spcBef>
                <a:spcPts val="480"/>
              </a:spcBef>
              <a:spcAft>
                <a:spcPts val="0"/>
              </a:spcAft>
              <a:buClr>
                <a:srgbClr val="CCCCCC"/>
              </a:buClr>
              <a:buSzPts val="1200"/>
              <a:buAutoNum type="arabicPeriod"/>
            </a:pPr>
            <a:r>
              <a:rPr lang="en" sz="1200">
                <a:solidFill>
                  <a:srgbClr val="CCCCCC"/>
                </a:solidFill>
              </a:rPr>
              <a:t>SRAM Read</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SRAM Write</a:t>
            </a:r>
            <a:endParaRPr sz="1200">
              <a:solidFill>
                <a:srgbClr val="CCCCCC"/>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BCAM Search</a:t>
            </a:r>
            <a:endParaRPr sz="1200">
              <a:solidFill>
                <a:schemeClr val="dk1"/>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BCAM Write</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TCAM Search</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TCAM Write</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Logic Operations</a:t>
            </a:r>
            <a:endParaRPr sz="1200">
              <a:solidFill>
                <a:srgbClr val="CCCCCC"/>
              </a:solidFill>
            </a:endParaRPr>
          </a:p>
        </p:txBody>
      </p:sp>
      <p:sp>
        <p:nvSpPr>
          <p:cNvPr id="261" name="Google Shape;261;p34"/>
          <p:cNvSpPr txBox="1"/>
          <p:nvPr/>
        </p:nvSpPr>
        <p:spPr>
          <a:xfrm>
            <a:off x="4423400" y="644175"/>
            <a:ext cx="2905500" cy="338700"/>
          </a:xfrm>
          <a:prstGeom prst="rect">
            <a:avLst/>
          </a:prstGeom>
          <a:noFill/>
          <a:ln>
            <a:noFill/>
          </a:ln>
        </p:spPr>
        <p:txBody>
          <a:bodyPr anchorCtr="0" anchor="t" bIns="91425" lIns="91425" spcFirstLastPara="1" rIns="91425" wrap="square" tIns="91425">
            <a:spAutoFit/>
          </a:bodyPr>
          <a:lstStyle/>
          <a:p>
            <a:pPr indent="0" lvl="0" marL="0" rtl="0" algn="ctr">
              <a:spcBef>
                <a:spcPts val="480"/>
              </a:spcBef>
              <a:spcAft>
                <a:spcPts val="0"/>
              </a:spcAft>
              <a:buNone/>
            </a:pPr>
            <a:r>
              <a:rPr lang="en" sz="1000">
                <a:solidFill>
                  <a:srgbClr val="FF0000"/>
                </a:solidFill>
              </a:rPr>
              <a:t>Evaluation Stage: preb=1, </a:t>
            </a:r>
            <a:r>
              <a:rPr lang="en" sz="1000">
                <a:solidFill>
                  <a:srgbClr val="FF0000"/>
                </a:solidFill>
              </a:rPr>
              <a:t>sampleb</a:t>
            </a:r>
            <a:r>
              <a:rPr lang="en" sz="1000">
                <a:solidFill>
                  <a:srgbClr val="FF0000"/>
                </a:solidFill>
              </a:rPr>
              <a:t>=1, sa_en=1</a:t>
            </a:r>
            <a:endParaRPr sz="100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5"/>
          <p:cNvSpPr txBox="1"/>
          <p:nvPr>
            <p:ph type="title"/>
          </p:nvPr>
        </p:nvSpPr>
        <p:spPr>
          <a:xfrm>
            <a:off x="713225" y="445025"/>
            <a:ext cx="52791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Logic Operations in Memory</a:t>
            </a:r>
            <a:endParaRPr b="1"/>
          </a:p>
        </p:txBody>
      </p:sp>
      <p:sp>
        <p:nvSpPr>
          <p:cNvPr id="267" name="Google Shape;267;p35"/>
          <p:cNvSpPr txBox="1"/>
          <p:nvPr>
            <p:ph idx="1" type="body"/>
          </p:nvPr>
        </p:nvSpPr>
        <p:spPr>
          <a:xfrm>
            <a:off x="713250" y="1272925"/>
            <a:ext cx="4694700" cy="3295800"/>
          </a:xfrm>
          <a:prstGeom prst="rect">
            <a:avLst/>
          </a:prstGeom>
        </p:spPr>
        <p:txBody>
          <a:bodyPr anchorCtr="0" anchor="t" bIns="45700" lIns="91425" spcFirstLastPara="1" rIns="91425" wrap="square" tIns="45700">
            <a:noAutofit/>
          </a:bodyPr>
          <a:lstStyle/>
          <a:p>
            <a:pPr indent="-292100" lvl="0" marL="342900" marR="0" rtl="0" algn="l">
              <a:lnSpc>
                <a:spcPct val="100000"/>
              </a:lnSpc>
              <a:spcBef>
                <a:spcPts val="360"/>
              </a:spcBef>
              <a:spcAft>
                <a:spcPts val="0"/>
              </a:spcAft>
              <a:buSzPts val="1600"/>
              <a:buChar char="▪"/>
            </a:pPr>
            <a:r>
              <a:rPr lang="en" sz="1600"/>
              <a:t>Word lines: 1 or 0 if using row, Mask (M) if not</a:t>
            </a:r>
            <a:endParaRPr sz="1600"/>
          </a:p>
          <a:p>
            <a:pPr indent="-273050" lvl="1" marL="742950" rtl="0" algn="l">
              <a:spcBef>
                <a:spcPts val="360"/>
              </a:spcBef>
              <a:spcAft>
                <a:spcPts val="0"/>
              </a:spcAft>
              <a:buSzPts val="1600"/>
              <a:buChar char="▪"/>
            </a:pPr>
            <a:r>
              <a:rPr lang="en" sz="1600"/>
              <a:t>Mask turns OFF both word lines</a:t>
            </a:r>
            <a:endParaRPr sz="1600"/>
          </a:p>
          <a:p>
            <a:pPr indent="-292100" lvl="0" marL="342900" rtl="0" algn="l">
              <a:spcBef>
                <a:spcPts val="360"/>
              </a:spcBef>
              <a:spcAft>
                <a:spcPts val="0"/>
              </a:spcAft>
              <a:buSzPts val="1600"/>
              <a:buChar char="▪"/>
            </a:pPr>
            <a:r>
              <a:rPr lang="en" sz="1600"/>
              <a:t>Output: Result of logic operation</a:t>
            </a:r>
            <a:endParaRPr sz="1600"/>
          </a:p>
          <a:p>
            <a:pPr indent="-292100" lvl="0" marL="342900" marR="0" rtl="0" algn="l">
              <a:lnSpc>
                <a:spcPct val="100000"/>
              </a:lnSpc>
              <a:spcBef>
                <a:spcPts val="360"/>
              </a:spcBef>
              <a:spcAft>
                <a:spcPts val="0"/>
              </a:spcAft>
              <a:buSzPts val="1600"/>
              <a:buChar char="▪"/>
            </a:pPr>
            <a:r>
              <a:rPr lang="en" sz="1600"/>
              <a:t>e</a:t>
            </a:r>
            <a:r>
              <a:rPr lang="en" sz="1600"/>
              <a:t>x. AND</a:t>
            </a:r>
            <a:endParaRPr sz="1600"/>
          </a:p>
          <a:p>
            <a:pPr indent="-273050" lvl="1" marL="742950" marR="0" rtl="0" algn="l">
              <a:lnSpc>
                <a:spcPct val="100000"/>
              </a:lnSpc>
              <a:spcBef>
                <a:spcPts val="360"/>
              </a:spcBef>
              <a:spcAft>
                <a:spcPts val="0"/>
              </a:spcAft>
              <a:buSzPts val="1600"/>
              <a:buChar char="▪"/>
            </a:pPr>
            <a:r>
              <a:rPr b="1" lang="en" sz="1600">
                <a:solidFill>
                  <a:srgbClr val="FF0000"/>
                </a:solidFill>
              </a:rPr>
              <a:t>WL = 1</a:t>
            </a:r>
            <a:r>
              <a:rPr lang="en" sz="1600"/>
              <a:t> for rows 1 and 3</a:t>
            </a:r>
            <a:endParaRPr sz="1600"/>
          </a:p>
          <a:p>
            <a:pPr indent="-273050" lvl="1" marL="742950" marR="0" rtl="0" algn="l">
              <a:lnSpc>
                <a:spcPct val="100000"/>
              </a:lnSpc>
              <a:spcBef>
                <a:spcPts val="360"/>
              </a:spcBef>
              <a:spcAft>
                <a:spcPts val="0"/>
              </a:spcAft>
              <a:buSzPts val="1600"/>
              <a:buChar char="▪"/>
            </a:pPr>
            <a:r>
              <a:rPr lang="en" sz="1600"/>
              <a:t>Columns 2 and 3 output TRUE</a:t>
            </a:r>
            <a:endParaRPr sz="1600"/>
          </a:p>
        </p:txBody>
      </p:sp>
      <p:sp>
        <p:nvSpPr>
          <p:cNvPr id="268" name="Google Shape;268;p35"/>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pic>
        <p:nvPicPr>
          <p:cNvPr id="269" name="Google Shape;269;p35" title="Screenshot 2026-04-17 at 3.04.10 PM.png"/>
          <p:cNvPicPr preferRelativeResize="0"/>
          <p:nvPr/>
        </p:nvPicPr>
        <p:blipFill>
          <a:blip r:embed="rId3">
            <a:alphaModFix/>
          </a:blip>
          <a:stretch>
            <a:fillRect/>
          </a:stretch>
        </p:blipFill>
        <p:spPr>
          <a:xfrm>
            <a:off x="5407950" y="1404538"/>
            <a:ext cx="3475750" cy="3138669"/>
          </a:xfrm>
          <a:prstGeom prst="rect">
            <a:avLst/>
          </a:prstGeom>
          <a:noFill/>
          <a:ln>
            <a:noFill/>
          </a:ln>
        </p:spPr>
      </p:pic>
      <p:sp>
        <p:nvSpPr>
          <p:cNvPr id="270" name="Google Shape;270;p35"/>
          <p:cNvSpPr/>
          <p:nvPr/>
        </p:nvSpPr>
        <p:spPr>
          <a:xfrm>
            <a:off x="6263000" y="2720425"/>
            <a:ext cx="2571900" cy="5727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1" name="Google Shape;271;p35"/>
          <p:cNvSpPr/>
          <p:nvPr/>
        </p:nvSpPr>
        <p:spPr>
          <a:xfrm>
            <a:off x="6289700" y="1633375"/>
            <a:ext cx="2518500" cy="5727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2" name="Google Shape;272;p35"/>
          <p:cNvSpPr/>
          <p:nvPr/>
        </p:nvSpPr>
        <p:spPr>
          <a:xfrm>
            <a:off x="6193250" y="4370425"/>
            <a:ext cx="2486100" cy="1983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35"/>
          <p:cNvSpPr/>
          <p:nvPr/>
        </p:nvSpPr>
        <p:spPr>
          <a:xfrm>
            <a:off x="5539400" y="1771875"/>
            <a:ext cx="336900" cy="3639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4" name="Google Shape;274;p35"/>
          <p:cNvSpPr/>
          <p:nvPr/>
        </p:nvSpPr>
        <p:spPr>
          <a:xfrm>
            <a:off x="5539400" y="2824825"/>
            <a:ext cx="336900" cy="3639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5" name="Google Shape;275;p35"/>
          <p:cNvPicPr preferRelativeResize="0"/>
          <p:nvPr/>
        </p:nvPicPr>
        <p:blipFill rotWithShape="1">
          <a:blip r:embed="rId4">
            <a:alphaModFix/>
          </a:blip>
          <a:srcRect b="0" l="0" r="0" t="10482"/>
          <a:stretch/>
        </p:blipFill>
        <p:spPr>
          <a:xfrm>
            <a:off x="1045700" y="3163098"/>
            <a:ext cx="4029825" cy="1277700"/>
          </a:xfrm>
          <a:prstGeom prst="rect">
            <a:avLst/>
          </a:prstGeom>
          <a:noFill/>
          <a:ln>
            <a:noFill/>
          </a:ln>
        </p:spPr>
      </p:pic>
      <p:sp>
        <p:nvSpPr>
          <p:cNvPr id="276" name="Google Shape;276;p35"/>
          <p:cNvSpPr/>
          <p:nvPr/>
        </p:nvSpPr>
        <p:spPr>
          <a:xfrm>
            <a:off x="6017000" y="2215825"/>
            <a:ext cx="246000" cy="504600"/>
          </a:xfrm>
          <a:prstGeom prst="roundRect">
            <a:avLst>
              <a:gd fmla="val 16667" name="adj"/>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35"/>
          <p:cNvSpPr/>
          <p:nvPr/>
        </p:nvSpPr>
        <p:spPr>
          <a:xfrm>
            <a:off x="6017000" y="3293125"/>
            <a:ext cx="246000" cy="504600"/>
          </a:xfrm>
          <a:prstGeom prst="roundRect">
            <a:avLst>
              <a:gd fmla="val 16667" name="adj"/>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 name="Google Shape;278;p35"/>
          <p:cNvSpPr/>
          <p:nvPr/>
        </p:nvSpPr>
        <p:spPr>
          <a:xfrm>
            <a:off x="2492100" y="3368025"/>
            <a:ext cx="1117500" cy="12006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 name="Google Shape;279;p35"/>
          <p:cNvSpPr txBox="1"/>
          <p:nvPr/>
        </p:nvSpPr>
        <p:spPr>
          <a:xfrm>
            <a:off x="7392700" y="130625"/>
            <a:ext cx="1751400" cy="1369800"/>
          </a:xfrm>
          <a:prstGeom prst="rect">
            <a:avLst/>
          </a:prstGeom>
          <a:noFill/>
          <a:ln>
            <a:noFill/>
          </a:ln>
        </p:spPr>
        <p:txBody>
          <a:bodyPr anchorCtr="0" anchor="t" bIns="91425" lIns="91425" spcFirstLastPara="1" rIns="91425" wrap="square" tIns="91425">
            <a:spAutoFit/>
          </a:bodyPr>
          <a:lstStyle/>
          <a:p>
            <a:pPr indent="-298450" lvl="0" marL="457200" rtl="0" algn="l">
              <a:spcBef>
                <a:spcPts val="480"/>
              </a:spcBef>
              <a:spcAft>
                <a:spcPts val="0"/>
              </a:spcAft>
              <a:buClr>
                <a:srgbClr val="CCCCCC"/>
              </a:buClr>
              <a:buSzPts val="1100"/>
              <a:buAutoNum type="arabicPeriod"/>
            </a:pPr>
            <a:r>
              <a:rPr lang="en" sz="1100">
                <a:solidFill>
                  <a:srgbClr val="CCCCCC"/>
                </a:solidFill>
              </a:rPr>
              <a:t>SRAM Read</a:t>
            </a:r>
            <a:endParaRPr sz="1100">
              <a:solidFill>
                <a:srgbClr val="CCCCCC"/>
              </a:solidFill>
            </a:endParaRPr>
          </a:p>
          <a:p>
            <a:pPr indent="-298450" lvl="0" marL="457200" rtl="0" algn="l">
              <a:spcBef>
                <a:spcPts val="0"/>
              </a:spcBef>
              <a:spcAft>
                <a:spcPts val="0"/>
              </a:spcAft>
              <a:buClr>
                <a:srgbClr val="CCCCCC"/>
              </a:buClr>
              <a:buSzPts val="1100"/>
              <a:buAutoNum type="arabicPeriod"/>
            </a:pPr>
            <a:r>
              <a:rPr lang="en" sz="1100">
                <a:solidFill>
                  <a:srgbClr val="CCCCCC"/>
                </a:solidFill>
              </a:rPr>
              <a:t>SRAM Write</a:t>
            </a:r>
            <a:endParaRPr sz="1100">
              <a:solidFill>
                <a:srgbClr val="CCCCCC"/>
              </a:solidFill>
            </a:endParaRPr>
          </a:p>
          <a:p>
            <a:pPr indent="-298450" lvl="0" marL="457200" rtl="0" algn="l">
              <a:spcBef>
                <a:spcPts val="0"/>
              </a:spcBef>
              <a:spcAft>
                <a:spcPts val="0"/>
              </a:spcAft>
              <a:buClr>
                <a:srgbClr val="CCCCCC"/>
              </a:buClr>
              <a:buSzPts val="1100"/>
              <a:buAutoNum type="arabicPeriod"/>
            </a:pPr>
            <a:r>
              <a:rPr lang="en" sz="1100">
                <a:solidFill>
                  <a:srgbClr val="CCCCCC"/>
                </a:solidFill>
              </a:rPr>
              <a:t>BCAM Search</a:t>
            </a:r>
            <a:endParaRPr sz="1100">
              <a:solidFill>
                <a:srgbClr val="CCCCCC"/>
              </a:solidFill>
            </a:endParaRPr>
          </a:p>
          <a:p>
            <a:pPr indent="-298450" lvl="0" marL="457200" rtl="0" algn="l">
              <a:spcBef>
                <a:spcPts val="0"/>
              </a:spcBef>
              <a:spcAft>
                <a:spcPts val="0"/>
              </a:spcAft>
              <a:buClr>
                <a:srgbClr val="CCCCCC"/>
              </a:buClr>
              <a:buSzPts val="1100"/>
              <a:buAutoNum type="arabicPeriod"/>
            </a:pPr>
            <a:r>
              <a:rPr lang="en" sz="1100">
                <a:solidFill>
                  <a:srgbClr val="CCCCCC"/>
                </a:solidFill>
              </a:rPr>
              <a:t>BCAM Write</a:t>
            </a:r>
            <a:endParaRPr sz="1100">
              <a:solidFill>
                <a:srgbClr val="CCCCCC"/>
              </a:solidFill>
            </a:endParaRPr>
          </a:p>
          <a:p>
            <a:pPr indent="-298450" lvl="0" marL="457200" rtl="0" algn="l">
              <a:spcBef>
                <a:spcPts val="0"/>
              </a:spcBef>
              <a:spcAft>
                <a:spcPts val="0"/>
              </a:spcAft>
              <a:buClr>
                <a:srgbClr val="CCCCCC"/>
              </a:buClr>
              <a:buSzPts val="1100"/>
              <a:buAutoNum type="arabicPeriod"/>
            </a:pPr>
            <a:r>
              <a:rPr lang="en" sz="1100">
                <a:solidFill>
                  <a:srgbClr val="CCCCCC"/>
                </a:solidFill>
              </a:rPr>
              <a:t>TCAM Search</a:t>
            </a:r>
            <a:endParaRPr sz="1100">
              <a:solidFill>
                <a:srgbClr val="CCCCCC"/>
              </a:solidFill>
            </a:endParaRPr>
          </a:p>
          <a:p>
            <a:pPr indent="-298450" lvl="0" marL="457200" rtl="0" algn="l">
              <a:spcBef>
                <a:spcPts val="0"/>
              </a:spcBef>
              <a:spcAft>
                <a:spcPts val="0"/>
              </a:spcAft>
              <a:buClr>
                <a:srgbClr val="CCCCCC"/>
              </a:buClr>
              <a:buSzPts val="1100"/>
              <a:buAutoNum type="arabicPeriod"/>
            </a:pPr>
            <a:r>
              <a:rPr lang="en" sz="1100">
                <a:solidFill>
                  <a:srgbClr val="CCCCCC"/>
                </a:solidFill>
              </a:rPr>
              <a:t>TCAM Write</a:t>
            </a:r>
            <a:endParaRPr sz="1100">
              <a:solidFill>
                <a:srgbClr val="CCCCCC"/>
              </a:solidFill>
            </a:endParaRPr>
          </a:p>
          <a:p>
            <a:pPr indent="-298450" lvl="0" marL="457200" rtl="0" algn="l">
              <a:spcBef>
                <a:spcPts val="0"/>
              </a:spcBef>
              <a:spcAft>
                <a:spcPts val="0"/>
              </a:spcAft>
              <a:buSzPts val="1100"/>
              <a:buAutoNum type="arabicPeriod"/>
            </a:pPr>
            <a:r>
              <a:rPr lang="en" sz="1100"/>
              <a:t>Logic Operations</a:t>
            </a:r>
            <a:endParaRPr sz="1100"/>
          </a:p>
        </p:txBody>
      </p:sp>
      <p:sp>
        <p:nvSpPr>
          <p:cNvPr id="280" name="Google Shape;280;p35"/>
          <p:cNvSpPr txBox="1"/>
          <p:nvPr/>
        </p:nvSpPr>
        <p:spPr>
          <a:xfrm>
            <a:off x="5497025" y="1004350"/>
            <a:ext cx="10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a:t>
            </a:r>
            <a:r>
              <a:rPr lang="en">
                <a:solidFill>
                  <a:srgbClr val="FF0000"/>
                </a:solidFill>
              </a:rPr>
              <a:t>ex. AND)</a:t>
            </a:r>
            <a:endParaRPr>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7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36" title="test_bcam_logic_and.jpg"/>
          <p:cNvPicPr preferRelativeResize="0"/>
          <p:nvPr/>
        </p:nvPicPr>
        <p:blipFill>
          <a:blip r:embed="rId3">
            <a:alphaModFix/>
          </a:blip>
          <a:stretch>
            <a:fillRect/>
          </a:stretch>
        </p:blipFill>
        <p:spPr>
          <a:xfrm>
            <a:off x="3038450" y="827875"/>
            <a:ext cx="5613976" cy="4210449"/>
          </a:xfrm>
          <a:prstGeom prst="rect">
            <a:avLst/>
          </a:prstGeom>
          <a:noFill/>
          <a:ln>
            <a:noFill/>
          </a:ln>
        </p:spPr>
      </p:pic>
      <p:sp>
        <p:nvSpPr>
          <p:cNvPr id="286" name="Google Shape;286;p36"/>
          <p:cNvSpPr/>
          <p:nvPr/>
        </p:nvSpPr>
        <p:spPr>
          <a:xfrm>
            <a:off x="6061300" y="1109000"/>
            <a:ext cx="717000" cy="3518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36"/>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
        <p:nvSpPr>
          <p:cNvPr id="288" name="Google Shape;288;p36"/>
          <p:cNvSpPr txBox="1"/>
          <p:nvPr/>
        </p:nvSpPr>
        <p:spPr>
          <a:xfrm>
            <a:off x="6338525" y="2577450"/>
            <a:ext cx="344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F0000"/>
                </a:solidFill>
              </a:rPr>
              <a:t>0</a:t>
            </a:r>
            <a:endParaRPr b="1" sz="2000">
              <a:solidFill>
                <a:srgbClr val="FF0000"/>
              </a:solidFill>
            </a:endParaRPr>
          </a:p>
        </p:txBody>
      </p:sp>
      <p:sp>
        <p:nvSpPr>
          <p:cNvPr id="289" name="Google Shape;289;p36"/>
          <p:cNvSpPr txBox="1"/>
          <p:nvPr/>
        </p:nvSpPr>
        <p:spPr>
          <a:xfrm>
            <a:off x="6338525" y="3070050"/>
            <a:ext cx="344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F0000"/>
                </a:solidFill>
              </a:rPr>
              <a:t>1</a:t>
            </a:r>
            <a:endParaRPr b="1" sz="2000">
              <a:solidFill>
                <a:srgbClr val="FF0000"/>
              </a:solidFill>
            </a:endParaRPr>
          </a:p>
        </p:txBody>
      </p:sp>
      <p:sp>
        <p:nvSpPr>
          <p:cNvPr id="290" name="Google Shape;290;p36"/>
          <p:cNvSpPr txBox="1"/>
          <p:nvPr/>
        </p:nvSpPr>
        <p:spPr>
          <a:xfrm>
            <a:off x="6338525" y="4134650"/>
            <a:ext cx="344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F0000"/>
                </a:solidFill>
              </a:rPr>
              <a:t>0</a:t>
            </a:r>
            <a:endParaRPr b="1" sz="2000">
              <a:solidFill>
                <a:srgbClr val="FF0000"/>
              </a:solidFill>
            </a:endParaRPr>
          </a:p>
        </p:txBody>
      </p:sp>
      <p:sp>
        <p:nvSpPr>
          <p:cNvPr id="291" name="Google Shape;291;p36"/>
          <p:cNvSpPr txBox="1"/>
          <p:nvPr/>
        </p:nvSpPr>
        <p:spPr>
          <a:xfrm>
            <a:off x="6338525" y="3630788"/>
            <a:ext cx="344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F0000"/>
                </a:solidFill>
              </a:rPr>
              <a:t>1</a:t>
            </a:r>
            <a:endParaRPr b="1" sz="2000">
              <a:solidFill>
                <a:srgbClr val="FF0000"/>
              </a:solidFill>
            </a:endParaRPr>
          </a:p>
        </p:txBody>
      </p:sp>
      <p:pic>
        <p:nvPicPr>
          <p:cNvPr id="292" name="Google Shape;292;p36" title="Screenshot 2026-04-17 at 3.04.10 PM.png"/>
          <p:cNvPicPr preferRelativeResize="0"/>
          <p:nvPr/>
        </p:nvPicPr>
        <p:blipFill>
          <a:blip r:embed="rId4">
            <a:alphaModFix/>
          </a:blip>
          <a:stretch>
            <a:fillRect/>
          </a:stretch>
        </p:blipFill>
        <p:spPr>
          <a:xfrm>
            <a:off x="0" y="1109010"/>
            <a:ext cx="2868114" cy="2589961"/>
          </a:xfrm>
          <a:prstGeom prst="rect">
            <a:avLst/>
          </a:prstGeom>
          <a:noFill/>
          <a:ln>
            <a:noFill/>
          </a:ln>
        </p:spPr>
      </p:pic>
      <p:sp>
        <p:nvSpPr>
          <p:cNvPr id="293" name="Google Shape;293;p36"/>
          <p:cNvSpPr/>
          <p:nvPr/>
        </p:nvSpPr>
        <p:spPr>
          <a:xfrm>
            <a:off x="705571" y="2194852"/>
            <a:ext cx="2122200" cy="472500"/>
          </a:xfrm>
          <a:prstGeom prst="ellipse">
            <a:avLst/>
          </a:prstGeom>
          <a:noFill/>
          <a:ln cap="flat" cmpd="sng" w="31450">
            <a:solidFill>
              <a:srgbClr val="FF0000"/>
            </a:solidFill>
            <a:prstDash val="solid"/>
            <a:round/>
            <a:headEnd len="sm" w="sm" type="none"/>
            <a:tailEnd len="sm" w="sm" type="none"/>
          </a:ln>
        </p:spPr>
        <p:txBody>
          <a:bodyPr anchorCtr="0" anchor="ctr" bIns="75450" lIns="75450" spcFirstLastPara="1" rIns="75450" wrap="square" tIns="75450">
            <a:noAutofit/>
          </a:bodyPr>
          <a:lstStyle/>
          <a:p>
            <a:pPr indent="0" lvl="0" marL="0" rtl="0" algn="ctr">
              <a:spcBef>
                <a:spcPts val="0"/>
              </a:spcBef>
              <a:spcAft>
                <a:spcPts val="0"/>
              </a:spcAft>
              <a:buNone/>
            </a:pPr>
            <a:r>
              <a:t/>
            </a:r>
            <a:endParaRPr sz="1155"/>
          </a:p>
        </p:txBody>
      </p:sp>
      <p:sp>
        <p:nvSpPr>
          <p:cNvPr id="294" name="Google Shape;294;p36"/>
          <p:cNvSpPr/>
          <p:nvPr/>
        </p:nvSpPr>
        <p:spPr>
          <a:xfrm>
            <a:off x="727604" y="1297842"/>
            <a:ext cx="2078100" cy="472500"/>
          </a:xfrm>
          <a:prstGeom prst="ellipse">
            <a:avLst/>
          </a:prstGeom>
          <a:noFill/>
          <a:ln cap="flat" cmpd="sng" w="31450">
            <a:solidFill>
              <a:srgbClr val="FF0000"/>
            </a:solidFill>
            <a:prstDash val="solid"/>
            <a:round/>
            <a:headEnd len="sm" w="sm" type="none"/>
            <a:tailEnd len="sm" w="sm" type="none"/>
          </a:ln>
        </p:spPr>
        <p:txBody>
          <a:bodyPr anchorCtr="0" anchor="ctr" bIns="75450" lIns="75450" spcFirstLastPara="1" rIns="75450" wrap="square" tIns="75450">
            <a:noAutofit/>
          </a:bodyPr>
          <a:lstStyle/>
          <a:p>
            <a:pPr indent="0" lvl="0" marL="0" rtl="0" algn="ctr">
              <a:spcBef>
                <a:spcPts val="0"/>
              </a:spcBef>
              <a:spcAft>
                <a:spcPts val="0"/>
              </a:spcAft>
              <a:buNone/>
            </a:pPr>
            <a:r>
              <a:t/>
            </a:r>
            <a:endParaRPr sz="1155"/>
          </a:p>
        </p:txBody>
      </p:sp>
      <p:sp>
        <p:nvSpPr>
          <p:cNvPr id="295" name="Google Shape;295;p36"/>
          <p:cNvSpPr/>
          <p:nvPr/>
        </p:nvSpPr>
        <p:spPr>
          <a:xfrm>
            <a:off x="705571" y="3535375"/>
            <a:ext cx="2051400" cy="205800"/>
          </a:xfrm>
          <a:prstGeom prst="ellipse">
            <a:avLst/>
          </a:prstGeom>
          <a:noFill/>
          <a:ln cap="flat" cmpd="sng" w="31450">
            <a:solidFill>
              <a:srgbClr val="FF0000"/>
            </a:solidFill>
            <a:prstDash val="solid"/>
            <a:round/>
            <a:headEnd len="sm" w="sm" type="none"/>
            <a:tailEnd len="sm" w="sm" type="none"/>
          </a:ln>
        </p:spPr>
        <p:txBody>
          <a:bodyPr anchorCtr="0" anchor="ctr" bIns="75450" lIns="75450" spcFirstLastPara="1" rIns="75450" wrap="square" tIns="75450">
            <a:noAutofit/>
          </a:bodyPr>
          <a:lstStyle/>
          <a:p>
            <a:pPr indent="0" lvl="0" marL="0" rtl="0" algn="ctr">
              <a:spcBef>
                <a:spcPts val="0"/>
              </a:spcBef>
              <a:spcAft>
                <a:spcPts val="0"/>
              </a:spcAft>
              <a:buNone/>
            </a:pPr>
            <a:r>
              <a:t/>
            </a:r>
            <a:endParaRPr sz="1155"/>
          </a:p>
        </p:txBody>
      </p:sp>
      <p:sp>
        <p:nvSpPr>
          <p:cNvPr id="296" name="Google Shape;296;p36"/>
          <p:cNvSpPr txBox="1"/>
          <p:nvPr>
            <p:ph idx="4294967295" type="title"/>
          </p:nvPr>
        </p:nvSpPr>
        <p:spPr>
          <a:xfrm>
            <a:off x="713225" y="445025"/>
            <a:ext cx="52791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Logic Operation Simulation: AND</a:t>
            </a:r>
            <a:endParaRPr b="1"/>
          </a:p>
        </p:txBody>
      </p:sp>
      <p:sp>
        <p:nvSpPr>
          <p:cNvPr id="297" name="Google Shape;297;p36"/>
          <p:cNvSpPr txBox="1"/>
          <p:nvPr/>
        </p:nvSpPr>
        <p:spPr>
          <a:xfrm>
            <a:off x="0" y="3665950"/>
            <a:ext cx="1926900" cy="1477500"/>
          </a:xfrm>
          <a:prstGeom prst="rect">
            <a:avLst/>
          </a:prstGeom>
          <a:noFill/>
          <a:ln>
            <a:noFill/>
          </a:ln>
        </p:spPr>
        <p:txBody>
          <a:bodyPr anchorCtr="0" anchor="t" bIns="91425" lIns="91425" spcFirstLastPara="1" rIns="91425" wrap="square" tIns="91425">
            <a:spAutoFit/>
          </a:bodyPr>
          <a:lstStyle/>
          <a:p>
            <a:pPr indent="-304800" lvl="0" marL="457200" rtl="0" algn="l">
              <a:spcBef>
                <a:spcPts val="480"/>
              </a:spcBef>
              <a:spcAft>
                <a:spcPts val="0"/>
              </a:spcAft>
              <a:buClr>
                <a:srgbClr val="CCCCCC"/>
              </a:buClr>
              <a:buSzPts val="1200"/>
              <a:buAutoNum type="arabicPeriod"/>
            </a:pPr>
            <a:r>
              <a:rPr lang="en" sz="1200">
                <a:solidFill>
                  <a:srgbClr val="CCCCCC"/>
                </a:solidFill>
              </a:rPr>
              <a:t>SRAM Read</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SRAM Write</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BCAM Search</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BCAM Write</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TCAM Search</a:t>
            </a:r>
            <a:endParaRPr sz="1200">
              <a:solidFill>
                <a:srgbClr val="CCCCCC"/>
              </a:solidFill>
            </a:endParaRPr>
          </a:p>
          <a:p>
            <a:pPr indent="-304800" lvl="0" marL="457200" rtl="0" algn="l">
              <a:spcBef>
                <a:spcPts val="0"/>
              </a:spcBef>
              <a:spcAft>
                <a:spcPts val="0"/>
              </a:spcAft>
              <a:buClr>
                <a:srgbClr val="CCCCCC"/>
              </a:buClr>
              <a:buSzPts val="1200"/>
              <a:buAutoNum type="arabicPeriod"/>
            </a:pPr>
            <a:r>
              <a:rPr lang="en" sz="1200">
                <a:solidFill>
                  <a:srgbClr val="CCCCCC"/>
                </a:solidFill>
              </a:rPr>
              <a:t>TCAM Write</a:t>
            </a:r>
            <a:endParaRPr sz="1200">
              <a:solidFill>
                <a:srgbClr val="CCCCCC"/>
              </a:solidFill>
            </a:endParaRPr>
          </a:p>
          <a:p>
            <a:pPr indent="-304800" lvl="0" marL="457200" rtl="0" algn="l">
              <a:spcBef>
                <a:spcPts val="0"/>
              </a:spcBef>
              <a:spcAft>
                <a:spcPts val="0"/>
              </a:spcAft>
              <a:buSzPts val="1200"/>
              <a:buAutoNum type="arabicPeriod"/>
            </a:pPr>
            <a:r>
              <a:rPr lang="en" sz="1200"/>
              <a:t>Logic Operations</a:t>
            </a:r>
            <a:endParaRPr sz="1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7"/>
          <p:cNvSpPr txBox="1"/>
          <p:nvPr>
            <p:ph type="title"/>
          </p:nvPr>
        </p:nvSpPr>
        <p:spPr>
          <a:xfrm>
            <a:off x="713225" y="445025"/>
            <a:ext cx="52791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Search Robustness</a:t>
            </a:r>
            <a:endParaRPr b="1"/>
          </a:p>
        </p:txBody>
      </p:sp>
      <p:sp>
        <p:nvSpPr>
          <p:cNvPr id="303" name="Google Shape;303;p37"/>
          <p:cNvSpPr txBox="1"/>
          <p:nvPr>
            <p:ph idx="1" type="body"/>
          </p:nvPr>
        </p:nvSpPr>
        <p:spPr>
          <a:xfrm>
            <a:off x="713250" y="1272925"/>
            <a:ext cx="4041600" cy="3295800"/>
          </a:xfrm>
          <a:prstGeom prst="rect">
            <a:avLst/>
          </a:prstGeom>
        </p:spPr>
        <p:txBody>
          <a:bodyPr anchorCtr="0" anchor="t" bIns="45700" lIns="91425" spcFirstLastPara="1" rIns="91425" wrap="square" tIns="45700">
            <a:noAutofit/>
          </a:bodyPr>
          <a:lstStyle/>
          <a:p>
            <a:pPr indent="-330200" lvl="0" marL="457200" rtl="0" algn="l">
              <a:lnSpc>
                <a:spcPct val="115000"/>
              </a:lnSpc>
              <a:spcBef>
                <a:spcPts val="480"/>
              </a:spcBef>
              <a:spcAft>
                <a:spcPts val="0"/>
              </a:spcAft>
              <a:buSzPts val="1600"/>
              <a:buFont typeface="Arial"/>
              <a:buChar char="▪"/>
            </a:pPr>
            <a:r>
              <a:rPr lang="en" sz="1600"/>
              <a:t>Drive word lines at Vdd_Lo ≈ 0.5V</a:t>
            </a:r>
            <a:endParaRPr sz="1600"/>
          </a:p>
          <a:p>
            <a:pPr indent="-330200" lvl="1" marL="914400" rtl="0" algn="l">
              <a:lnSpc>
                <a:spcPct val="115000"/>
              </a:lnSpc>
              <a:spcBef>
                <a:spcPts val="0"/>
              </a:spcBef>
              <a:spcAft>
                <a:spcPts val="0"/>
              </a:spcAft>
              <a:buSzPts val="1600"/>
              <a:buFont typeface="Arial"/>
              <a:buChar char="▪"/>
            </a:pPr>
            <a:r>
              <a:rPr lang="en" sz="1600"/>
              <a:t>Weakens access transistors</a:t>
            </a:r>
            <a:endParaRPr sz="1600"/>
          </a:p>
          <a:p>
            <a:pPr indent="-330200" lvl="1" marL="914400" rtl="0" algn="l">
              <a:lnSpc>
                <a:spcPct val="115000"/>
              </a:lnSpc>
              <a:spcBef>
                <a:spcPts val="0"/>
              </a:spcBef>
              <a:spcAft>
                <a:spcPts val="0"/>
              </a:spcAft>
              <a:buSzPts val="1600"/>
              <a:buFont typeface="Arial"/>
              <a:buChar char="▪"/>
            </a:pPr>
            <a:r>
              <a:rPr lang="en" sz="1600"/>
              <a:t>Prevents data corruption</a:t>
            </a:r>
            <a:endParaRPr sz="1600"/>
          </a:p>
          <a:p>
            <a:pPr indent="-330200" lvl="0" marL="457200" rtl="0" algn="l">
              <a:lnSpc>
                <a:spcPct val="115000"/>
              </a:lnSpc>
              <a:spcBef>
                <a:spcPts val="0"/>
              </a:spcBef>
              <a:spcAft>
                <a:spcPts val="0"/>
              </a:spcAft>
              <a:buSzPts val="1600"/>
              <a:buFont typeface="Arial"/>
              <a:buChar char="▪"/>
            </a:pPr>
            <a:r>
              <a:rPr lang="en" sz="1600"/>
              <a:t>Use during </a:t>
            </a:r>
            <a:r>
              <a:rPr lang="en" sz="1600"/>
              <a:t>CAM Write and Search</a:t>
            </a:r>
            <a:endParaRPr sz="1600"/>
          </a:p>
          <a:p>
            <a:pPr indent="0" lvl="0" marL="0" rtl="0" algn="l">
              <a:spcBef>
                <a:spcPts val="480"/>
              </a:spcBef>
              <a:spcAft>
                <a:spcPts val="0"/>
              </a:spcAft>
              <a:buNone/>
            </a:pPr>
            <a:r>
              <a:t/>
            </a:r>
            <a:endParaRPr sz="1600"/>
          </a:p>
        </p:txBody>
      </p:sp>
      <p:sp>
        <p:nvSpPr>
          <p:cNvPr id="304" name="Google Shape;304;p37"/>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pic>
        <p:nvPicPr>
          <p:cNvPr id="305" name="Google Shape;305;p37"/>
          <p:cNvPicPr preferRelativeResize="0"/>
          <p:nvPr/>
        </p:nvPicPr>
        <p:blipFill>
          <a:blip r:embed="rId3">
            <a:alphaModFix/>
          </a:blip>
          <a:stretch>
            <a:fillRect/>
          </a:stretch>
        </p:blipFill>
        <p:spPr>
          <a:xfrm>
            <a:off x="4687950" y="1166725"/>
            <a:ext cx="4361799" cy="2780224"/>
          </a:xfrm>
          <a:prstGeom prst="rect">
            <a:avLst/>
          </a:prstGeom>
          <a:noFill/>
          <a:ln>
            <a:noFill/>
          </a:ln>
        </p:spPr>
      </p:pic>
      <p:sp>
        <p:nvSpPr>
          <p:cNvPr id="306" name="Google Shape;306;p37"/>
          <p:cNvSpPr txBox="1"/>
          <p:nvPr/>
        </p:nvSpPr>
        <p:spPr>
          <a:xfrm>
            <a:off x="4687950" y="3872325"/>
            <a:ext cx="4277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Fig. 9. BCAM column-wise write. Orange lines are Vdd_Lo, while red lines are nominal Vdd.</a:t>
            </a:r>
            <a:endParaRPr sz="1200"/>
          </a:p>
        </p:txBody>
      </p:sp>
      <p:cxnSp>
        <p:nvCxnSpPr>
          <p:cNvPr id="307" name="Google Shape;307;p37"/>
          <p:cNvCxnSpPr/>
          <p:nvPr/>
        </p:nvCxnSpPr>
        <p:spPr>
          <a:xfrm>
            <a:off x="6128700" y="1199625"/>
            <a:ext cx="401100" cy="553200"/>
          </a:xfrm>
          <a:prstGeom prst="straightConnector1">
            <a:avLst/>
          </a:prstGeom>
          <a:noFill/>
          <a:ln cap="flat" cmpd="sng" w="28575">
            <a:solidFill>
              <a:srgbClr val="FF0000"/>
            </a:solidFill>
            <a:prstDash val="solid"/>
            <a:round/>
            <a:headEnd len="med" w="med" type="none"/>
            <a:tailEnd len="med" w="med" type="stealth"/>
          </a:ln>
        </p:spPr>
      </p:cxnSp>
      <p:sp>
        <p:nvSpPr>
          <p:cNvPr id="308" name="Google Shape;308;p37"/>
          <p:cNvSpPr txBox="1"/>
          <p:nvPr/>
        </p:nvSpPr>
        <p:spPr>
          <a:xfrm>
            <a:off x="5659400" y="903625"/>
            <a:ext cx="935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FF0000"/>
                </a:solidFill>
              </a:rPr>
              <a:t>word lines</a:t>
            </a:r>
            <a:endParaRPr sz="120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8"/>
          <p:cNvSpPr txBox="1"/>
          <p:nvPr>
            <p:ph idx="1" type="subTitle"/>
          </p:nvPr>
        </p:nvSpPr>
        <p:spPr>
          <a:xfrm>
            <a:off x="803750" y="2693525"/>
            <a:ext cx="7849500" cy="5580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 sz="3600"/>
              <a:t>Cadence Schematics</a:t>
            </a:r>
            <a:endParaRPr b="1" sz="3600"/>
          </a:p>
        </p:txBody>
      </p:sp>
      <p:sp>
        <p:nvSpPr>
          <p:cNvPr id="314" name="Google Shape;314;p38"/>
          <p:cNvSpPr txBox="1"/>
          <p:nvPr>
            <p:ph type="title"/>
          </p:nvPr>
        </p:nvSpPr>
        <p:spPr>
          <a:xfrm>
            <a:off x="803750" y="2040496"/>
            <a:ext cx="4087500" cy="673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04</a:t>
            </a:r>
            <a:endParaRPr/>
          </a:p>
        </p:txBody>
      </p:sp>
      <p:sp>
        <p:nvSpPr>
          <p:cNvPr id="315" name="Google Shape;315;p38"/>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p39"/>
          <p:cNvPicPr preferRelativeResize="0"/>
          <p:nvPr/>
        </p:nvPicPr>
        <p:blipFill rotWithShape="1">
          <a:blip r:embed="rId3">
            <a:alphaModFix/>
          </a:blip>
          <a:srcRect b="0" l="37265" r="0" t="0"/>
          <a:stretch/>
        </p:blipFill>
        <p:spPr>
          <a:xfrm>
            <a:off x="832007" y="1421025"/>
            <a:ext cx="3563042" cy="2977556"/>
          </a:xfrm>
          <a:prstGeom prst="rect">
            <a:avLst/>
          </a:prstGeom>
          <a:noFill/>
          <a:ln>
            <a:noFill/>
          </a:ln>
        </p:spPr>
      </p:pic>
      <p:sp>
        <p:nvSpPr>
          <p:cNvPr id="321" name="Google Shape;321;p39"/>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pic>
        <p:nvPicPr>
          <p:cNvPr id="322" name="Google Shape;322;p39"/>
          <p:cNvPicPr preferRelativeResize="0"/>
          <p:nvPr/>
        </p:nvPicPr>
        <p:blipFill rotWithShape="1">
          <a:blip r:embed="rId4">
            <a:alphaModFix/>
          </a:blip>
          <a:srcRect b="7357" l="7027" r="28328" t="3254"/>
          <a:stretch/>
        </p:blipFill>
        <p:spPr>
          <a:xfrm>
            <a:off x="4112175" y="239475"/>
            <a:ext cx="4496949" cy="4879675"/>
          </a:xfrm>
          <a:prstGeom prst="rect">
            <a:avLst/>
          </a:prstGeom>
          <a:noFill/>
          <a:ln>
            <a:noFill/>
          </a:ln>
        </p:spPr>
      </p:pic>
      <p:sp>
        <p:nvSpPr>
          <p:cNvPr id="323" name="Google Shape;323;p39"/>
          <p:cNvSpPr txBox="1"/>
          <p:nvPr>
            <p:ph idx="4294967295" type="title"/>
          </p:nvPr>
        </p:nvSpPr>
        <p:spPr>
          <a:xfrm>
            <a:off x="713225" y="445025"/>
            <a:ext cx="47115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Architecture Schematic</a:t>
            </a:r>
            <a:endParaRPr b="1"/>
          </a:p>
        </p:txBody>
      </p:sp>
      <p:pic>
        <p:nvPicPr>
          <p:cNvPr id="324" name="Google Shape;324;p39"/>
          <p:cNvPicPr preferRelativeResize="0"/>
          <p:nvPr/>
        </p:nvPicPr>
        <p:blipFill>
          <a:blip r:embed="rId5">
            <a:alphaModFix/>
          </a:blip>
          <a:stretch>
            <a:fillRect/>
          </a:stretch>
        </p:blipFill>
        <p:spPr>
          <a:xfrm>
            <a:off x="832000" y="4398592"/>
            <a:ext cx="2554449" cy="18963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p40"/>
          <p:cNvPicPr preferRelativeResize="0"/>
          <p:nvPr/>
        </p:nvPicPr>
        <p:blipFill rotWithShape="1">
          <a:blip r:embed="rId3">
            <a:alphaModFix/>
          </a:blip>
          <a:srcRect b="0" l="37265" r="5122" t="0"/>
          <a:stretch/>
        </p:blipFill>
        <p:spPr>
          <a:xfrm>
            <a:off x="0" y="3419475"/>
            <a:ext cx="1894601" cy="1723975"/>
          </a:xfrm>
          <a:prstGeom prst="rect">
            <a:avLst/>
          </a:prstGeom>
          <a:noFill/>
          <a:ln>
            <a:noFill/>
          </a:ln>
        </p:spPr>
      </p:pic>
      <p:sp>
        <p:nvSpPr>
          <p:cNvPr id="330" name="Google Shape;330;p40"/>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pic>
        <p:nvPicPr>
          <p:cNvPr id="331" name="Google Shape;331;p40"/>
          <p:cNvPicPr preferRelativeResize="0"/>
          <p:nvPr/>
        </p:nvPicPr>
        <p:blipFill>
          <a:blip r:embed="rId4">
            <a:alphaModFix/>
          </a:blip>
          <a:stretch>
            <a:fillRect/>
          </a:stretch>
        </p:blipFill>
        <p:spPr>
          <a:xfrm>
            <a:off x="3808600" y="600375"/>
            <a:ext cx="5296873" cy="4195149"/>
          </a:xfrm>
          <a:prstGeom prst="rect">
            <a:avLst/>
          </a:prstGeom>
          <a:noFill/>
          <a:ln>
            <a:noFill/>
          </a:ln>
        </p:spPr>
      </p:pic>
      <p:pic>
        <p:nvPicPr>
          <p:cNvPr id="332" name="Google Shape;332;p40"/>
          <p:cNvPicPr preferRelativeResize="0"/>
          <p:nvPr/>
        </p:nvPicPr>
        <p:blipFill rotWithShape="1">
          <a:blip r:embed="rId5">
            <a:alphaModFix/>
          </a:blip>
          <a:srcRect b="3613" l="0" r="0" t="3268"/>
          <a:stretch/>
        </p:blipFill>
        <p:spPr>
          <a:xfrm>
            <a:off x="1740150" y="873300"/>
            <a:ext cx="2313625" cy="4270157"/>
          </a:xfrm>
          <a:prstGeom prst="rect">
            <a:avLst/>
          </a:prstGeom>
          <a:noFill/>
          <a:ln>
            <a:noFill/>
          </a:ln>
        </p:spPr>
      </p:pic>
      <p:sp>
        <p:nvSpPr>
          <p:cNvPr id="333" name="Google Shape;333;p40"/>
          <p:cNvSpPr txBox="1"/>
          <p:nvPr>
            <p:ph idx="4294967295" type="title"/>
          </p:nvPr>
        </p:nvSpPr>
        <p:spPr>
          <a:xfrm>
            <a:off x="713225" y="445025"/>
            <a:ext cx="47115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Buffer &amp; Memory Cells</a:t>
            </a:r>
            <a:endParaRPr b="1"/>
          </a:p>
        </p:txBody>
      </p:sp>
      <p:sp>
        <p:nvSpPr>
          <p:cNvPr id="334" name="Google Shape;334;p40"/>
          <p:cNvSpPr/>
          <p:nvPr/>
        </p:nvSpPr>
        <p:spPr>
          <a:xfrm>
            <a:off x="596425" y="3573075"/>
            <a:ext cx="1059600" cy="9540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p40"/>
          <p:cNvSpPr/>
          <p:nvPr/>
        </p:nvSpPr>
        <p:spPr>
          <a:xfrm>
            <a:off x="0" y="3622075"/>
            <a:ext cx="375000" cy="9051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pic>
        <p:nvPicPr>
          <p:cNvPr id="341" name="Google Shape;341;p41"/>
          <p:cNvPicPr preferRelativeResize="0"/>
          <p:nvPr/>
        </p:nvPicPr>
        <p:blipFill rotWithShape="1">
          <a:blip r:embed="rId3">
            <a:alphaModFix/>
          </a:blip>
          <a:srcRect b="2798" l="3603" r="5190" t="2362"/>
          <a:stretch/>
        </p:blipFill>
        <p:spPr>
          <a:xfrm>
            <a:off x="2086587" y="869975"/>
            <a:ext cx="6424414" cy="4200401"/>
          </a:xfrm>
          <a:prstGeom prst="rect">
            <a:avLst/>
          </a:prstGeom>
          <a:noFill/>
          <a:ln>
            <a:noFill/>
          </a:ln>
        </p:spPr>
      </p:pic>
      <p:sp>
        <p:nvSpPr>
          <p:cNvPr id="342" name="Google Shape;342;p41"/>
          <p:cNvSpPr txBox="1"/>
          <p:nvPr>
            <p:ph idx="4294967295" type="title"/>
          </p:nvPr>
        </p:nvSpPr>
        <p:spPr>
          <a:xfrm>
            <a:off x="713225" y="445025"/>
            <a:ext cx="47115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Sense Amplifier Organization</a:t>
            </a:r>
            <a:endParaRPr b="1"/>
          </a:p>
        </p:txBody>
      </p:sp>
      <p:pic>
        <p:nvPicPr>
          <p:cNvPr id="343" name="Google Shape;343;p41"/>
          <p:cNvPicPr preferRelativeResize="0"/>
          <p:nvPr/>
        </p:nvPicPr>
        <p:blipFill rotWithShape="1">
          <a:blip r:embed="rId4">
            <a:alphaModFix/>
          </a:blip>
          <a:srcRect b="0" l="37265" r="5122" t="0"/>
          <a:stretch/>
        </p:blipFill>
        <p:spPr>
          <a:xfrm>
            <a:off x="0" y="3419475"/>
            <a:ext cx="1894601" cy="1723975"/>
          </a:xfrm>
          <a:prstGeom prst="rect">
            <a:avLst/>
          </a:prstGeom>
          <a:noFill/>
          <a:ln>
            <a:noFill/>
          </a:ln>
        </p:spPr>
      </p:pic>
      <p:sp>
        <p:nvSpPr>
          <p:cNvPr id="344" name="Google Shape;344;p41"/>
          <p:cNvSpPr/>
          <p:nvPr/>
        </p:nvSpPr>
        <p:spPr>
          <a:xfrm>
            <a:off x="603425" y="4527175"/>
            <a:ext cx="1059600" cy="6162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2"/>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
        <p:nvSpPr>
          <p:cNvPr id="350" name="Google Shape;350;p42"/>
          <p:cNvSpPr txBox="1"/>
          <p:nvPr>
            <p:ph idx="4294967295" type="title"/>
          </p:nvPr>
        </p:nvSpPr>
        <p:spPr>
          <a:xfrm>
            <a:off x="713225" y="445025"/>
            <a:ext cx="47115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Sense Amplifier</a:t>
            </a:r>
            <a:endParaRPr b="1"/>
          </a:p>
        </p:txBody>
      </p:sp>
      <p:pic>
        <p:nvPicPr>
          <p:cNvPr id="351" name="Google Shape;351;p42"/>
          <p:cNvPicPr preferRelativeResize="0"/>
          <p:nvPr/>
        </p:nvPicPr>
        <p:blipFill rotWithShape="1">
          <a:blip r:embed="rId3">
            <a:alphaModFix/>
          </a:blip>
          <a:srcRect b="0" l="37265" r="5122" t="0"/>
          <a:stretch/>
        </p:blipFill>
        <p:spPr>
          <a:xfrm>
            <a:off x="0" y="3419475"/>
            <a:ext cx="1894601" cy="1723975"/>
          </a:xfrm>
          <a:prstGeom prst="rect">
            <a:avLst/>
          </a:prstGeom>
          <a:noFill/>
          <a:ln>
            <a:noFill/>
          </a:ln>
        </p:spPr>
      </p:pic>
      <p:sp>
        <p:nvSpPr>
          <p:cNvPr id="352" name="Google Shape;352;p42"/>
          <p:cNvSpPr/>
          <p:nvPr/>
        </p:nvSpPr>
        <p:spPr>
          <a:xfrm>
            <a:off x="1199925" y="4568050"/>
            <a:ext cx="463200" cy="1818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53" name="Google Shape;353;p42" title="Screenshot 2026-04-10 at 2.49.22 PM.png"/>
          <p:cNvPicPr preferRelativeResize="0"/>
          <p:nvPr/>
        </p:nvPicPr>
        <p:blipFill rotWithShape="1">
          <a:blip r:embed="rId4">
            <a:alphaModFix/>
          </a:blip>
          <a:srcRect b="1361" l="1779" r="2067" t="2123"/>
          <a:stretch/>
        </p:blipFill>
        <p:spPr>
          <a:xfrm>
            <a:off x="1894600" y="1161701"/>
            <a:ext cx="2616700" cy="3516950"/>
          </a:xfrm>
          <a:prstGeom prst="rect">
            <a:avLst/>
          </a:prstGeom>
          <a:noFill/>
          <a:ln>
            <a:noFill/>
          </a:ln>
        </p:spPr>
      </p:pic>
      <p:pic>
        <p:nvPicPr>
          <p:cNvPr id="354" name="Google Shape;354;p42"/>
          <p:cNvPicPr preferRelativeResize="0"/>
          <p:nvPr/>
        </p:nvPicPr>
        <p:blipFill rotWithShape="1">
          <a:blip r:embed="rId5">
            <a:alphaModFix/>
          </a:blip>
          <a:srcRect b="6406" l="4523" r="3548" t="4125"/>
          <a:stretch/>
        </p:blipFill>
        <p:spPr>
          <a:xfrm>
            <a:off x="4769700" y="665525"/>
            <a:ext cx="3708848" cy="408433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3"/>
          <p:cNvSpPr txBox="1"/>
          <p:nvPr>
            <p:ph type="title"/>
          </p:nvPr>
        </p:nvSpPr>
        <p:spPr>
          <a:xfrm>
            <a:off x="713225" y="445025"/>
            <a:ext cx="4711500" cy="572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t>Recap</a:t>
            </a:r>
            <a:endParaRPr b="1"/>
          </a:p>
        </p:txBody>
      </p:sp>
      <p:sp>
        <p:nvSpPr>
          <p:cNvPr id="360" name="Google Shape;360;p43"/>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
        <p:nvSpPr>
          <p:cNvPr id="361" name="Google Shape;361;p43"/>
          <p:cNvSpPr txBox="1"/>
          <p:nvPr>
            <p:ph idx="1" type="body"/>
          </p:nvPr>
        </p:nvSpPr>
        <p:spPr>
          <a:xfrm>
            <a:off x="713250" y="1272925"/>
            <a:ext cx="4711500" cy="3295800"/>
          </a:xfrm>
          <a:prstGeom prst="rect">
            <a:avLst/>
          </a:prstGeom>
        </p:spPr>
        <p:txBody>
          <a:bodyPr anchorCtr="0" anchor="t" bIns="45700" lIns="91425" spcFirstLastPara="1" rIns="91425" wrap="square" tIns="45700">
            <a:noAutofit/>
          </a:bodyPr>
          <a:lstStyle/>
          <a:p>
            <a:pPr indent="-330200" lvl="0" marL="457200" rtl="0" algn="l">
              <a:spcBef>
                <a:spcPts val="480"/>
              </a:spcBef>
              <a:spcAft>
                <a:spcPts val="0"/>
              </a:spcAft>
              <a:buSzPts val="1600"/>
              <a:buFont typeface="Arial"/>
              <a:buChar char="▪"/>
            </a:pPr>
            <a:r>
              <a:rPr lang="en" sz="1600"/>
              <a:t>Configurable memory makes CAM faster and smaller</a:t>
            </a:r>
            <a:endParaRPr sz="1600"/>
          </a:p>
          <a:p>
            <a:pPr indent="-273050" lvl="1" marL="742950" rtl="0" algn="l">
              <a:spcBef>
                <a:spcPts val="360"/>
              </a:spcBef>
              <a:spcAft>
                <a:spcPts val="0"/>
              </a:spcAft>
              <a:buSzPts val="1600"/>
              <a:buFont typeface="Arial"/>
              <a:buChar char="▪"/>
            </a:pPr>
            <a:r>
              <a:rPr lang="en" sz="1600"/>
              <a:t>Minimal impact to SRAM performance</a:t>
            </a:r>
            <a:endParaRPr sz="1600"/>
          </a:p>
          <a:p>
            <a:pPr indent="-330200" lvl="0" marL="457200" rtl="0" algn="l">
              <a:spcBef>
                <a:spcPts val="480"/>
              </a:spcBef>
              <a:spcAft>
                <a:spcPts val="0"/>
              </a:spcAft>
              <a:buSzPts val="1600"/>
              <a:buFont typeface="Arial"/>
              <a:buChar char="▪"/>
            </a:pPr>
            <a:r>
              <a:rPr lang="en" sz="1600"/>
              <a:t>A</a:t>
            </a:r>
            <a:r>
              <a:rPr lang="en" sz="1600"/>
              <a:t>ll-in-one </a:t>
            </a:r>
            <a:r>
              <a:rPr lang="en" sz="1600"/>
              <a:t>SRAM, BCAM, TCAM</a:t>
            </a:r>
            <a:endParaRPr sz="1600"/>
          </a:p>
          <a:p>
            <a:pPr indent="-273050" lvl="1" marL="742950" rtl="0" algn="l">
              <a:spcBef>
                <a:spcPts val="360"/>
              </a:spcBef>
              <a:spcAft>
                <a:spcPts val="0"/>
              </a:spcAft>
              <a:buSzPts val="1600"/>
              <a:buFont typeface="Arial"/>
              <a:buChar char="▪"/>
            </a:pPr>
            <a:r>
              <a:rPr lang="en" sz="1600"/>
              <a:t>Logic Operation</a:t>
            </a:r>
            <a:r>
              <a:rPr lang="en" sz="1600"/>
              <a:t>s as a bonus </a:t>
            </a:r>
            <a:endParaRPr sz="1600"/>
          </a:p>
        </p:txBody>
      </p:sp>
      <p:pic>
        <p:nvPicPr>
          <p:cNvPr id="362" name="Google Shape;362;p43"/>
          <p:cNvPicPr preferRelativeResize="0"/>
          <p:nvPr/>
        </p:nvPicPr>
        <p:blipFill>
          <a:blip r:embed="rId3">
            <a:alphaModFix/>
          </a:blip>
          <a:stretch>
            <a:fillRect/>
          </a:stretch>
        </p:blipFill>
        <p:spPr>
          <a:xfrm>
            <a:off x="5424725" y="875650"/>
            <a:ext cx="3268201" cy="3233750"/>
          </a:xfrm>
          <a:prstGeom prst="rect">
            <a:avLst/>
          </a:prstGeom>
          <a:noFill/>
          <a:ln>
            <a:noFill/>
          </a:ln>
        </p:spPr>
      </p:pic>
      <p:pic>
        <p:nvPicPr>
          <p:cNvPr id="363" name="Google Shape;363;p43"/>
          <p:cNvPicPr preferRelativeResize="0"/>
          <p:nvPr/>
        </p:nvPicPr>
        <p:blipFill>
          <a:blip r:embed="rId4">
            <a:alphaModFix/>
          </a:blip>
          <a:stretch>
            <a:fillRect/>
          </a:stretch>
        </p:blipFill>
        <p:spPr>
          <a:xfrm>
            <a:off x="5424725" y="4109395"/>
            <a:ext cx="2892500" cy="258150"/>
          </a:xfrm>
          <a:prstGeom prst="rect">
            <a:avLst/>
          </a:prstGeom>
          <a:noFill/>
          <a:ln>
            <a:noFill/>
          </a:ln>
        </p:spPr>
      </p:pic>
      <p:sp>
        <p:nvSpPr>
          <p:cNvPr id="364" name="Google Shape;364;p43"/>
          <p:cNvSpPr txBox="1"/>
          <p:nvPr/>
        </p:nvSpPr>
        <p:spPr>
          <a:xfrm>
            <a:off x="3275200" y="4339700"/>
            <a:ext cx="1237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(xkcd 676: Abstraction)</a:t>
            </a:r>
            <a:endParaRPr sz="800">
              <a:solidFill>
                <a:schemeClr val="dk1"/>
              </a:solidFill>
            </a:endParaRPr>
          </a:p>
        </p:txBody>
      </p:sp>
      <p:pic>
        <p:nvPicPr>
          <p:cNvPr id="365" name="Google Shape;365;p43"/>
          <p:cNvPicPr preferRelativeResize="0"/>
          <p:nvPr/>
        </p:nvPicPr>
        <p:blipFill>
          <a:blip r:embed="rId5">
            <a:alphaModFix/>
          </a:blip>
          <a:stretch>
            <a:fillRect/>
          </a:stretch>
        </p:blipFill>
        <p:spPr>
          <a:xfrm>
            <a:off x="1452900" y="2765975"/>
            <a:ext cx="1859575" cy="1859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